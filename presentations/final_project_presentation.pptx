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kdörtgen 23">
            <a:extLst>
              <a:ext uri="{FF2B5EF4-FFF2-40B4-BE49-F238E27FC236}">
                <a16:creationId xmlns:a16="http://schemas.microsoft.com/office/drawing/2014/main" id="{D54DCBCB-9890-4138-8B07-D297069489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278008C8-8CF0-401A-A854-969D60D9DE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F0689741-A646-4C7F-80F5-9B95EE51D136}"/>
              </a:ext>
            </a:extLst>
          </p:cNvPr>
          <p:cNvSpPr>
            <a:spLocks noGrp="1"/>
          </p:cNvSpPr>
          <p:nvPr/>
        </p:nvSpPr>
        <p:spPr>
          <a:xfrm>
            <a:off x="552450" y="762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rPr>
              <a:t>Ethereum Wallet Behaviour Segmentation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C74BA08C-2D7C-4491-B644-BA4C23A0DDAA}"/>
              </a:ext>
            </a:extLst>
          </p:cNvPr>
          <p:cNvSpPr>
            <a:spLocks noGrp="1"/>
          </p:cNvSpPr>
          <p:nvPr/>
        </p:nvSpPr>
        <p:spPr>
          <a:xfrm>
            <a:off x="590550" y="1562100"/>
            <a:ext cx="885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Detailed final presentation: data pipeline, role discovery, validation evidence, stability tests, and findings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8E40290C-5646-4A2C-8D4B-3528BECC3A77}"/>
              </a:ext>
            </a:extLst>
          </p:cNvPr>
          <p:cNvSpPr>
            <a:spLocks noGrp="1"/>
          </p:cNvSpPr>
          <p:nvPr/>
        </p:nvSpPr>
        <p:spPr>
          <a:xfrm>
            <a:off x="590550" y="215265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Sena Kahya, Sude T</a:t>
            </a:r>
            <a:r>
              <a:rPr lang="tr-TR"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ıraş</a:t>
            </a:r>
            <a:r>
              <a:rPr lang="tr-TR"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| Supervisor: Selim </a:t>
            </a:r>
            <a:r>
              <a:rPr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Balc</a:t>
            </a:r>
            <a:r>
              <a:rPr lang="tr-TR"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ı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soy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67792AAF-10FF-4C62-A3F3-587E05C62AB0}"/>
              </a:ext>
            </a:extLst>
          </p:cNvPr>
          <p:cNvSpPr>
            <a:spLocks noGrp="1"/>
          </p:cNvSpPr>
          <p:nvPr/>
        </p:nvSpPr>
        <p:spPr>
          <a:xfrm>
            <a:off x="590550" y="3429000"/>
            <a:ext cx="2381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C02338A3-21EB-45C2-8C3B-C7BBDCE986E8}"/>
              </a:ext>
            </a:extLst>
          </p:cNvPr>
          <p:cNvSpPr>
            <a:spLocks noGrp="1"/>
          </p:cNvSpPr>
          <p:nvPr/>
        </p:nvSpPr>
        <p:spPr>
          <a:xfrm>
            <a:off x="590550" y="3429000"/>
            <a:ext cx="47625" cy="8763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7CDEAAB0-7EDC-4E35-823D-C2297B3C8825}"/>
              </a:ext>
            </a:extLst>
          </p:cNvPr>
          <p:cNvSpPr>
            <a:spLocks noGrp="1"/>
          </p:cNvSpPr>
          <p:nvPr/>
        </p:nvSpPr>
        <p:spPr>
          <a:xfrm>
            <a:off x="762000" y="3581400"/>
            <a:ext cx="2114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2.74M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20939247-19F9-44A2-A8FC-04591EE5F71F}"/>
              </a:ext>
            </a:extLst>
          </p:cNvPr>
          <p:cNvSpPr>
            <a:spLocks noGrp="1"/>
          </p:cNvSpPr>
          <p:nvPr/>
        </p:nvSpPr>
        <p:spPr>
          <a:xfrm>
            <a:off x="762000" y="3924300"/>
            <a:ext cx="2114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wallets processed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405E4D47-7809-4294-8E9C-D2B9E8C45967}"/>
              </a:ext>
            </a:extLst>
          </p:cNvPr>
          <p:cNvSpPr>
            <a:spLocks noGrp="1"/>
          </p:cNvSpPr>
          <p:nvPr/>
        </p:nvSpPr>
        <p:spPr>
          <a:xfrm>
            <a:off x="3257550" y="3429000"/>
            <a:ext cx="2381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82B11C73-6805-4DF2-920F-534602838824}"/>
              </a:ext>
            </a:extLst>
          </p:cNvPr>
          <p:cNvSpPr>
            <a:spLocks noGrp="1"/>
          </p:cNvSpPr>
          <p:nvPr/>
        </p:nvSpPr>
        <p:spPr>
          <a:xfrm>
            <a:off x="3257550" y="3429000"/>
            <a:ext cx="47625" cy="8763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E8E233B7-A2C9-4668-A0B6-1B74055B9B9C}"/>
              </a:ext>
            </a:extLst>
          </p:cNvPr>
          <p:cNvSpPr>
            <a:spLocks noGrp="1"/>
          </p:cNvSpPr>
          <p:nvPr/>
        </p:nvSpPr>
        <p:spPr>
          <a:xfrm>
            <a:off x="3429000" y="3581400"/>
            <a:ext cx="2114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D05EEC59-4918-41CD-96CA-696E5B129C2E}"/>
              </a:ext>
            </a:extLst>
          </p:cNvPr>
          <p:cNvSpPr>
            <a:spLocks noGrp="1"/>
          </p:cNvSpPr>
          <p:nvPr/>
        </p:nvSpPr>
        <p:spPr>
          <a:xfrm>
            <a:off x="3429000" y="3924300"/>
            <a:ext cx="2114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interpretable wallet roles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F3ABD73F-2D78-4C18-9484-E2FEE9BB863A}"/>
              </a:ext>
            </a:extLst>
          </p:cNvPr>
          <p:cNvSpPr>
            <a:spLocks noGrp="1"/>
          </p:cNvSpPr>
          <p:nvPr/>
        </p:nvSpPr>
        <p:spPr>
          <a:xfrm>
            <a:off x="5924550" y="3429000"/>
            <a:ext cx="2381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ACCB0A22-86A8-420B-AB53-D12F87F2DDC9}"/>
              </a:ext>
            </a:extLst>
          </p:cNvPr>
          <p:cNvSpPr>
            <a:spLocks noGrp="1"/>
          </p:cNvSpPr>
          <p:nvPr/>
        </p:nvSpPr>
        <p:spPr>
          <a:xfrm>
            <a:off x="5924550" y="3429000"/>
            <a:ext cx="47625" cy="8763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3485F509-5E23-4B76-90EA-92AA90417847}"/>
              </a:ext>
            </a:extLst>
          </p:cNvPr>
          <p:cNvSpPr>
            <a:spLocks noGrp="1"/>
          </p:cNvSpPr>
          <p:nvPr/>
        </p:nvSpPr>
        <p:spPr>
          <a:xfrm>
            <a:off x="6096000" y="3581400"/>
            <a:ext cx="2114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0.932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6CEE5C3B-7E72-4343-976F-2BA1E4737DBF}"/>
              </a:ext>
            </a:extLst>
          </p:cNvPr>
          <p:cNvSpPr>
            <a:spLocks noGrp="1"/>
          </p:cNvSpPr>
          <p:nvPr/>
        </p:nvSpPr>
        <p:spPr>
          <a:xfrm>
            <a:off x="6096000" y="3924300"/>
            <a:ext cx="2114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network assortativity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D43A112C-E2AD-4EAB-8FB5-A79A34852096}"/>
              </a:ext>
            </a:extLst>
          </p:cNvPr>
          <p:cNvSpPr>
            <a:spLocks noGrp="1"/>
          </p:cNvSpPr>
          <p:nvPr/>
        </p:nvSpPr>
        <p:spPr>
          <a:xfrm>
            <a:off x="8591550" y="3429000"/>
            <a:ext cx="2381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AD159095-D080-4AA8-B6EE-E7DF144B7CF2}"/>
              </a:ext>
            </a:extLst>
          </p:cNvPr>
          <p:cNvSpPr>
            <a:spLocks noGrp="1"/>
          </p:cNvSpPr>
          <p:nvPr/>
        </p:nvSpPr>
        <p:spPr>
          <a:xfrm>
            <a:off x="8591550" y="3429000"/>
            <a:ext cx="47625" cy="876300"/>
          </a:xfrm>
          <a:prstGeom prst="rect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92A734D0-18FF-4168-913D-0761F6EEFEC1}"/>
              </a:ext>
            </a:extLst>
          </p:cNvPr>
          <p:cNvSpPr>
            <a:spLocks noGrp="1"/>
          </p:cNvSpPr>
          <p:nvPr/>
        </p:nvSpPr>
        <p:spPr>
          <a:xfrm>
            <a:off x="8763000" y="3581400"/>
            <a:ext cx="2114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8.13M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61B3A6AB-0298-4D14-AE93-DA6B91AD8F0B}"/>
              </a:ext>
            </a:extLst>
          </p:cNvPr>
          <p:cNvSpPr>
            <a:spLocks noGrp="1"/>
          </p:cNvSpPr>
          <p:nvPr/>
        </p:nvSpPr>
        <p:spPr>
          <a:xfrm>
            <a:off x="8763000" y="3924300"/>
            <a:ext cx="2114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wallet-month transition pairs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81614F38-7A3F-487F-B814-0C61CCDBD836}"/>
              </a:ext>
            </a:extLst>
          </p:cNvPr>
          <p:cNvSpPr>
            <a:spLocks noGrp="1"/>
          </p:cNvSpPr>
          <p:nvPr/>
        </p:nvSpPr>
        <p:spPr>
          <a:xfrm>
            <a:off x="590550" y="58102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Final Project Presentation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BFEB5738-C62C-44A1-823D-4885C36E3EC4}"/>
              </a:ext>
            </a:extLst>
          </p:cNvPr>
          <p:cNvSpPr>
            <a:spLocks noGrp="1"/>
          </p:cNvSpPr>
          <p:nvPr/>
        </p:nvSpPr>
        <p:spPr>
          <a:xfrm>
            <a:off x="11468100" y="63246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67683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>
            <a:extLst>
              <a:ext uri="{FF2B5EF4-FFF2-40B4-BE49-F238E27FC236}">
                <a16:creationId xmlns:a16="http://schemas.microsoft.com/office/drawing/2014/main" id="{BEB8042B-4888-4B9B-AF8D-6F45A28DE6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E27F82D1-5D2E-429B-A7D9-128B27E954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68106034-AA9A-46BE-8EB0-10ADDF6D8672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ACADEMIC FRAMING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3FF528C6-70EC-444D-853A-AC5BECDC8ED4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rPr>
              <a:t>What question does the project answer?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C80520D3-C7E2-4686-9409-74D19CF9846C}"/>
              </a:ext>
            </a:extLst>
          </p:cNvPr>
          <p:cNvSpPr>
            <a:spLocks noGrp="1"/>
          </p:cNvSpPr>
          <p:nvPr/>
        </p:nvSpPr>
        <p:spPr>
          <a:xfrm>
            <a:off x="628650" y="1485900"/>
            <a:ext cx="495300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DD3D3FC1-7DF4-4A22-99CF-7A5F02F96593}"/>
              </a:ext>
            </a:extLst>
          </p:cNvPr>
          <p:cNvSpPr>
            <a:spLocks noGrp="1"/>
          </p:cNvSpPr>
          <p:nvPr/>
        </p:nvSpPr>
        <p:spPr>
          <a:xfrm>
            <a:off x="895350" y="1790700"/>
            <a:ext cx="2476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Research Question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D78A57E6-A10F-4106-A904-77C36BB47026}"/>
              </a:ext>
            </a:extLst>
          </p:cNvPr>
          <p:cNvSpPr>
            <a:spLocks noGrp="1"/>
          </p:cNvSpPr>
          <p:nvPr/>
        </p:nvSpPr>
        <p:spPr>
          <a:xfrm>
            <a:off x="895350" y="2190750"/>
            <a:ext cx="40957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Can Ethereum wallets be organized into behavioural roles that are meaningful beyond a clustering algorithm?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86796033-EBA6-4312-A5F5-425E4CF0210E}"/>
              </a:ext>
            </a:extLst>
          </p:cNvPr>
          <p:cNvSpPr>
            <a:spLocks noGrp="1"/>
          </p:cNvSpPr>
          <p:nvPr/>
        </p:nvSpPr>
        <p:spPr>
          <a:xfrm>
            <a:off x="895350" y="3352800"/>
            <a:ext cx="400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Meaningful means that roles should be interpretable, visible in the transaction network, and reasonably stable across time and feature choices.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FE9E45B2-3075-4641-9D59-9E7976745CE7}"/>
              </a:ext>
            </a:extLst>
          </p:cNvPr>
          <p:cNvSpPr>
            <a:spLocks noGrp="1"/>
          </p:cNvSpPr>
          <p:nvPr/>
        </p:nvSpPr>
        <p:spPr>
          <a:xfrm>
            <a:off x="6134100" y="1485900"/>
            <a:ext cx="495300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55B82D47-AEEB-43A7-B7EC-1CA19D49B21B}"/>
              </a:ext>
            </a:extLst>
          </p:cNvPr>
          <p:cNvSpPr>
            <a:spLocks noGrp="1"/>
          </p:cNvSpPr>
          <p:nvPr/>
        </p:nvSpPr>
        <p:spPr>
          <a:xfrm>
            <a:off x="6400800" y="1790700"/>
            <a:ext cx="2476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B0998CF5-1C99-4325-B911-583E59C8B740}"/>
              </a:ext>
            </a:extLst>
          </p:cNvPr>
          <p:cNvSpPr>
            <a:spLocks noGrp="1"/>
          </p:cNvSpPr>
          <p:nvPr/>
        </p:nvSpPr>
        <p:spPr>
          <a:xfrm>
            <a:off x="6477000" y="23907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A6C12A3A-950B-4FCF-9FB1-058D8C2BFE1B}"/>
              </a:ext>
            </a:extLst>
          </p:cNvPr>
          <p:cNvSpPr>
            <a:spLocks noGrp="1"/>
          </p:cNvSpPr>
          <p:nvPr/>
        </p:nvSpPr>
        <p:spPr>
          <a:xfrm>
            <a:off x="6686550" y="2324100"/>
            <a:ext cx="38862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Blockchain data is public but difficult to interpret at wallet scale.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23E254BC-4A5D-4585-8518-A3C8B8AB3EF5}"/>
              </a:ext>
            </a:extLst>
          </p:cNvPr>
          <p:cNvSpPr>
            <a:spLocks noGrp="1"/>
          </p:cNvSpPr>
          <p:nvPr/>
        </p:nvSpPr>
        <p:spPr>
          <a:xfrm>
            <a:off x="6477000" y="30194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1B4C1BAC-F976-4992-B30E-DB815930343D}"/>
              </a:ext>
            </a:extLst>
          </p:cNvPr>
          <p:cNvSpPr>
            <a:spLocks noGrp="1"/>
          </p:cNvSpPr>
          <p:nvPr/>
        </p:nvSpPr>
        <p:spPr>
          <a:xfrm>
            <a:off x="6686550" y="2952750"/>
            <a:ext cx="38862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Many studies describe activity, but fewer validate behavioural roles across multiple evidence types.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E84D8C12-7E2C-4163-A0A8-DC439EC0CCC8}"/>
              </a:ext>
            </a:extLst>
          </p:cNvPr>
          <p:cNvSpPr>
            <a:spLocks noGrp="1"/>
          </p:cNvSpPr>
          <p:nvPr/>
        </p:nvSpPr>
        <p:spPr>
          <a:xfrm>
            <a:off x="6477000" y="36480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BC3B13EC-91F0-4B27-B50B-D955700EC182}"/>
              </a:ext>
            </a:extLst>
          </p:cNvPr>
          <p:cNvSpPr>
            <a:spLocks noGrp="1"/>
          </p:cNvSpPr>
          <p:nvPr/>
        </p:nvSpPr>
        <p:spPr>
          <a:xfrm>
            <a:off x="6686550" y="3581400"/>
            <a:ext cx="38862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A simulator or risk model needs realistic agent types, not assumed personas.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5202AAD1-563E-48B4-AD32-884CE69B1B4B}"/>
              </a:ext>
            </a:extLst>
          </p:cNvPr>
          <p:cNvSpPr>
            <a:spLocks noGrp="1"/>
          </p:cNvSpPr>
          <p:nvPr/>
        </p:nvSpPr>
        <p:spPr>
          <a:xfrm>
            <a:off x="1581150" y="5505450"/>
            <a:ext cx="8572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The focus is not only the final segmentation, but how each result was tested and validated.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4B12FE69-BE10-47B8-93BF-D9E522F84795}"/>
              </a:ext>
            </a:extLst>
          </p:cNvPr>
          <p:cNvSpPr>
            <a:spLocks noGrp="1"/>
          </p:cNvSpPr>
          <p:nvPr/>
        </p:nvSpPr>
        <p:spPr>
          <a:xfrm>
            <a:off x="11468100" y="63246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73009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ikdörtgen 26">
            <a:extLst>
              <a:ext uri="{FF2B5EF4-FFF2-40B4-BE49-F238E27FC236}">
                <a16:creationId xmlns:a16="http://schemas.microsoft.com/office/drawing/2014/main" id="{3F7C8AC1-081B-4FC4-B1A3-2106D6C00F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FEFAFFD8-7E55-4FCD-9C6C-1CFCABC749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513AC7D3-120D-4B43-B821-532517F8D82C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PROJECT EVOLUTION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3147CB0E-19ED-4958-8B9D-82548BAFB4E8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rPr>
              <a:t>From simulator idea to empirical wallet roles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BA54FE94-8A07-4032-A8BA-47D2AF0285B7}"/>
              </a:ext>
            </a:extLst>
          </p:cNvPr>
          <p:cNvSpPr>
            <a:spLocks noGrp="1"/>
          </p:cNvSpPr>
          <p:nvPr/>
        </p:nvSpPr>
        <p:spPr>
          <a:xfrm>
            <a:off x="647700" y="1504950"/>
            <a:ext cx="4619625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43B2F2B5-8B1A-45A5-ACF9-1DBA74CB3685}"/>
              </a:ext>
            </a:extLst>
          </p:cNvPr>
          <p:cNvSpPr>
            <a:spLocks noGrp="1"/>
          </p:cNvSpPr>
          <p:nvPr/>
        </p:nvSpPr>
        <p:spPr>
          <a:xfrm>
            <a:off x="933450" y="18288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Initial approach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C370D3E5-9E1D-4B8D-90DB-528B83187417}"/>
              </a:ext>
            </a:extLst>
          </p:cNvPr>
          <p:cNvSpPr>
            <a:spLocks noGrp="1"/>
          </p:cNvSpPr>
          <p:nvPr/>
        </p:nvSpPr>
        <p:spPr>
          <a:xfrm>
            <a:off x="933450" y="2209800"/>
            <a:ext cx="3619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AI-governed crypto-bank simulator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A2BF841B-4394-4239-9E39-2C1E3002EDAD}"/>
              </a:ext>
            </a:extLst>
          </p:cNvPr>
          <p:cNvSpPr>
            <a:spLocks noGrp="1"/>
          </p:cNvSpPr>
          <p:nvPr/>
        </p:nvSpPr>
        <p:spPr>
          <a:xfrm>
            <a:off x="990600" y="2905125"/>
            <a:ext cx="762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C78E0330-4E98-4456-A71C-A6EED609D2FE}"/>
              </a:ext>
            </a:extLst>
          </p:cNvPr>
          <p:cNvSpPr>
            <a:spLocks noGrp="1"/>
          </p:cNvSpPr>
          <p:nvPr/>
        </p:nvSpPr>
        <p:spPr>
          <a:xfrm>
            <a:off x="1200150" y="2838450"/>
            <a:ext cx="34575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Simulated depositors, borrowers, treasury, and loan pool.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78A7A20C-B28D-4D2B-B56F-1C36F83A746E}"/>
              </a:ext>
            </a:extLst>
          </p:cNvPr>
          <p:cNvSpPr>
            <a:spLocks noGrp="1"/>
          </p:cNvSpPr>
          <p:nvPr/>
        </p:nvSpPr>
        <p:spPr>
          <a:xfrm>
            <a:off x="990600" y="3419475"/>
            <a:ext cx="762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CCBE8FE2-1A90-4C81-BE72-96CFD39DCF0C}"/>
              </a:ext>
            </a:extLst>
          </p:cNvPr>
          <p:cNvSpPr>
            <a:spLocks noGrp="1"/>
          </p:cNvSpPr>
          <p:nvPr/>
        </p:nvSpPr>
        <p:spPr>
          <a:xfrm>
            <a:off x="1200150" y="3352800"/>
            <a:ext cx="34575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AI-assisted credit scoring, risk analysis, governance, and explanations.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A7C8463A-4E52-42EE-8A27-A6E7261E5D28}"/>
              </a:ext>
            </a:extLst>
          </p:cNvPr>
          <p:cNvSpPr>
            <a:spLocks noGrp="1"/>
          </p:cNvSpPr>
          <p:nvPr/>
        </p:nvSpPr>
        <p:spPr>
          <a:xfrm>
            <a:off x="990600" y="3933825"/>
            <a:ext cx="762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0564837A-43E9-428E-8DFC-12C10A47E77A}"/>
              </a:ext>
            </a:extLst>
          </p:cNvPr>
          <p:cNvSpPr>
            <a:spLocks noGrp="1"/>
          </p:cNvSpPr>
          <p:nvPr/>
        </p:nvSpPr>
        <p:spPr>
          <a:xfrm>
            <a:off x="1200150" y="3867150"/>
            <a:ext cx="34575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Goal was an application prototype with interpretable decisions.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E048F6AA-A39E-493D-8741-4F1B1FD4B599}"/>
              </a:ext>
            </a:extLst>
          </p:cNvPr>
          <p:cNvSpPr>
            <a:spLocks noGrp="1"/>
          </p:cNvSpPr>
          <p:nvPr/>
        </p:nvSpPr>
        <p:spPr>
          <a:xfrm>
            <a:off x="6477000" y="1504950"/>
            <a:ext cx="4619625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05224BA0-BD77-4500-BA3A-14ECE8701F1B}"/>
              </a:ext>
            </a:extLst>
          </p:cNvPr>
          <p:cNvSpPr>
            <a:spLocks noGrp="1"/>
          </p:cNvSpPr>
          <p:nvPr/>
        </p:nvSpPr>
        <p:spPr>
          <a:xfrm>
            <a:off x="6762750" y="18288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Final direction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D003478D-9C3E-4E9B-9A9A-514E8302EAD2}"/>
              </a:ext>
            </a:extLst>
          </p:cNvPr>
          <p:cNvSpPr>
            <a:spLocks noGrp="1"/>
          </p:cNvSpPr>
          <p:nvPr/>
        </p:nvSpPr>
        <p:spPr>
          <a:xfrm>
            <a:off x="6762750" y="2209800"/>
            <a:ext cx="371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Real Ethereum behaviour first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CB7F7152-FD85-4285-804E-D31E7019B9BA}"/>
              </a:ext>
            </a:extLst>
          </p:cNvPr>
          <p:cNvSpPr>
            <a:spLocks noGrp="1"/>
          </p:cNvSpPr>
          <p:nvPr/>
        </p:nvSpPr>
        <p:spPr>
          <a:xfrm>
            <a:off x="6819900" y="29051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E959D1F4-D66B-478D-AE62-F85A65F9294C}"/>
              </a:ext>
            </a:extLst>
          </p:cNvPr>
          <p:cNvSpPr>
            <a:spLocks noGrp="1"/>
          </p:cNvSpPr>
          <p:nvPr/>
        </p:nvSpPr>
        <p:spPr>
          <a:xfrm>
            <a:off x="7029450" y="2838450"/>
            <a:ext cx="3505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Instead of assuming agents, discover wallet types from transaction data.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6E74633D-B4B2-43C2-9155-0614CC0F8401}"/>
              </a:ext>
            </a:extLst>
          </p:cNvPr>
          <p:cNvSpPr>
            <a:spLocks noGrp="1"/>
          </p:cNvSpPr>
          <p:nvPr/>
        </p:nvSpPr>
        <p:spPr>
          <a:xfrm>
            <a:off x="6819900" y="34194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6694C44C-3B3E-4E0C-871F-F6C0E035D420}"/>
              </a:ext>
            </a:extLst>
          </p:cNvPr>
          <p:cNvSpPr>
            <a:spLocks noGrp="1"/>
          </p:cNvSpPr>
          <p:nvPr/>
        </p:nvSpPr>
        <p:spPr>
          <a:xfrm>
            <a:off x="7029450" y="3352800"/>
            <a:ext cx="3505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Validate the roles with network evidence, statistics, and time.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0633D4C1-5A50-40AC-A4C7-73A7D5886DEA}"/>
              </a:ext>
            </a:extLst>
          </p:cNvPr>
          <p:cNvSpPr>
            <a:spLocks noGrp="1"/>
          </p:cNvSpPr>
          <p:nvPr/>
        </p:nvSpPr>
        <p:spPr>
          <a:xfrm>
            <a:off x="6819900" y="39338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DEF17FE1-0D73-4217-BF10-B4721F2AEC5A}"/>
              </a:ext>
            </a:extLst>
          </p:cNvPr>
          <p:cNvSpPr>
            <a:spLocks noGrp="1"/>
          </p:cNvSpPr>
          <p:nvPr/>
        </p:nvSpPr>
        <p:spPr>
          <a:xfrm>
            <a:off x="7029450" y="3867150"/>
            <a:ext cx="3505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Use the empirical roles as a stronger foundation for future simulation.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A5F8F34F-8041-4C34-93FB-9CC815B8B747}"/>
              </a:ext>
            </a:extLst>
          </p:cNvPr>
          <p:cNvSpPr>
            <a:spLocks noGrp="1"/>
          </p:cNvSpPr>
          <p:nvPr/>
        </p:nvSpPr>
        <p:spPr>
          <a:xfrm>
            <a:off x="5438775" y="2895600"/>
            <a:ext cx="685800" cy="76200"/>
          </a:xfrm>
          <a:prstGeom prst="rect">
            <a:avLst/>
          </a:prstGeom>
          <a:solidFill>
            <a:srgbClr val="D9DE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İkizkenar Üçgen 23">
            <a:extLst>
              <a:ext uri="{FF2B5EF4-FFF2-40B4-BE49-F238E27FC236}">
                <a16:creationId xmlns:a16="http://schemas.microsoft.com/office/drawing/2014/main" id="{49EF725E-18BA-4628-87CD-9FFFDF7782E0}"/>
              </a:ext>
            </a:extLst>
          </p:cNvPr>
          <p:cNvSpPr>
            <a:spLocks noGrp="1"/>
          </p:cNvSpPr>
          <p:nvPr/>
        </p:nvSpPr>
        <p:spPr>
          <a:xfrm rot="5400000">
            <a:off x="6019800" y="2762250"/>
            <a:ext cx="228600" cy="342900"/>
          </a:xfrm>
          <a:prstGeom prst="triangl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7728A866-9187-42A2-81FF-E65AAC27534A}"/>
              </a:ext>
            </a:extLst>
          </p:cNvPr>
          <p:cNvSpPr>
            <a:spLocks noGrp="1"/>
          </p:cNvSpPr>
          <p:nvPr/>
        </p:nvSpPr>
        <p:spPr>
          <a:xfrm>
            <a:off x="11468100" y="63246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32625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Dikdörtgen 30">
            <a:extLst>
              <a:ext uri="{FF2B5EF4-FFF2-40B4-BE49-F238E27FC236}">
                <a16:creationId xmlns:a16="http://schemas.microsoft.com/office/drawing/2014/main" id="{D76FD978-59C7-4DD6-BD3E-B711A53D1F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A30948F6-23C0-45E0-B2E7-5B2A9D1593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07C96BF4-FB12-4427-B894-564CBCD19BCD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125B026B-DE64-45D6-A447-F4989BE106AD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rPr>
              <a:t>Completed analysis pipeline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CD6D263C-53DF-428B-B176-2F418C6F5980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400050" cy="400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2F2AD2CD-1792-4D79-BDED-35BFDE75DDFD}"/>
              </a:ext>
            </a:extLst>
          </p:cNvPr>
          <p:cNvSpPr>
            <a:spLocks noGrp="1"/>
          </p:cNvSpPr>
          <p:nvPr/>
        </p:nvSpPr>
        <p:spPr>
          <a:xfrm>
            <a:off x="781050" y="15811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6D82A7A3-0147-4F18-B687-671E527146D3}"/>
              </a:ext>
            </a:extLst>
          </p:cNvPr>
          <p:cNvSpPr>
            <a:spLocks noGrp="1"/>
          </p:cNvSpPr>
          <p:nvPr/>
        </p:nvSpPr>
        <p:spPr>
          <a:xfrm>
            <a:off x="1314450" y="1504950"/>
            <a:ext cx="3943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Transaction data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9B1A7CA9-E12A-47A2-9ADF-377448CAFEE2}"/>
              </a:ext>
            </a:extLst>
          </p:cNvPr>
          <p:cNvSpPr>
            <a:spLocks noGrp="1"/>
          </p:cNvSpPr>
          <p:nvPr/>
        </p:nvSpPr>
        <p:spPr>
          <a:xfrm>
            <a:off x="1314450" y="1790700"/>
            <a:ext cx="3943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Read daily Ethereum transaction records and isolate wallet-level activity.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10407FDA-1F66-40BB-BC36-E5EDB521D07B}"/>
              </a:ext>
            </a:extLst>
          </p:cNvPr>
          <p:cNvSpPr>
            <a:spLocks noGrp="1"/>
          </p:cNvSpPr>
          <p:nvPr/>
        </p:nvSpPr>
        <p:spPr>
          <a:xfrm>
            <a:off x="6115050" y="1504950"/>
            <a:ext cx="400050" cy="400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6FDFDA99-1308-45DC-B1EA-F155E944351E}"/>
              </a:ext>
            </a:extLst>
          </p:cNvPr>
          <p:cNvSpPr>
            <a:spLocks noGrp="1"/>
          </p:cNvSpPr>
          <p:nvPr/>
        </p:nvSpPr>
        <p:spPr>
          <a:xfrm>
            <a:off x="6115050" y="15811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B9CE6447-8B3C-419B-B551-883D4CF45A09}"/>
              </a:ext>
            </a:extLst>
          </p:cNvPr>
          <p:cNvSpPr>
            <a:spLocks noGrp="1"/>
          </p:cNvSpPr>
          <p:nvPr/>
        </p:nvSpPr>
        <p:spPr>
          <a:xfrm>
            <a:off x="6648450" y="1504950"/>
            <a:ext cx="3943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Feature engineering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131F7114-1181-43F7-AA52-B6869639B742}"/>
              </a:ext>
            </a:extLst>
          </p:cNvPr>
          <p:cNvSpPr>
            <a:spLocks noGrp="1"/>
          </p:cNvSpPr>
          <p:nvPr/>
        </p:nvSpPr>
        <p:spPr>
          <a:xfrm>
            <a:off x="6648450" y="1790700"/>
            <a:ext cx="3943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Convert raw transactions into activity, value-flow, directionality, volatility, and concentration features.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AE471AF8-1C43-4CFE-A07F-1A3DD0CA4F56}"/>
              </a:ext>
            </a:extLst>
          </p:cNvPr>
          <p:cNvSpPr>
            <a:spLocks noGrp="1"/>
          </p:cNvSpPr>
          <p:nvPr/>
        </p:nvSpPr>
        <p:spPr>
          <a:xfrm>
            <a:off x="781050" y="2857500"/>
            <a:ext cx="400050" cy="400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B15A7385-536E-4CDE-938C-152CD81B63C8}"/>
              </a:ext>
            </a:extLst>
          </p:cNvPr>
          <p:cNvSpPr>
            <a:spLocks noGrp="1"/>
          </p:cNvSpPr>
          <p:nvPr/>
        </p:nvSpPr>
        <p:spPr>
          <a:xfrm>
            <a:off x="781050" y="29337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E817CFE4-82DC-4AD1-992C-0039936EAC22}"/>
              </a:ext>
            </a:extLst>
          </p:cNvPr>
          <p:cNvSpPr>
            <a:spLocks noGrp="1"/>
          </p:cNvSpPr>
          <p:nvPr/>
        </p:nvSpPr>
        <p:spPr>
          <a:xfrm>
            <a:off x="1314450" y="2857500"/>
            <a:ext cx="3943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Role discovery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D06E91C9-9F8E-42AE-B4F0-7AEB5FF4A025}"/>
              </a:ext>
            </a:extLst>
          </p:cNvPr>
          <p:cNvSpPr>
            <a:spLocks noGrp="1"/>
          </p:cNvSpPr>
          <p:nvPr/>
        </p:nvSpPr>
        <p:spPr>
          <a:xfrm>
            <a:off x="1314450" y="3143250"/>
            <a:ext cx="3943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Run KMeans clustering and interpret six wallet roles from normalized behavioural profiles.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9B7A9BB3-6A6E-4F35-8715-1618F25C7733}"/>
              </a:ext>
            </a:extLst>
          </p:cNvPr>
          <p:cNvSpPr>
            <a:spLocks noGrp="1"/>
          </p:cNvSpPr>
          <p:nvPr/>
        </p:nvSpPr>
        <p:spPr>
          <a:xfrm>
            <a:off x="6115050" y="2857500"/>
            <a:ext cx="400050" cy="400050"/>
          </a:xfrm>
          <a:prstGeom prst="rect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1410B88D-3379-41C6-82D2-6D6756178C75}"/>
              </a:ext>
            </a:extLst>
          </p:cNvPr>
          <p:cNvSpPr>
            <a:spLocks noGrp="1"/>
          </p:cNvSpPr>
          <p:nvPr/>
        </p:nvSpPr>
        <p:spPr>
          <a:xfrm>
            <a:off x="6115050" y="29337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992D0288-DEF2-4004-B7FB-AA8D0770C494}"/>
              </a:ext>
            </a:extLst>
          </p:cNvPr>
          <p:cNvSpPr>
            <a:spLocks noGrp="1"/>
          </p:cNvSpPr>
          <p:nvPr/>
        </p:nvSpPr>
        <p:spPr>
          <a:xfrm>
            <a:off x="6648450" y="2857500"/>
            <a:ext cx="3943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Network validation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924986C2-ED78-4F3B-B645-93FBB23486F9}"/>
              </a:ext>
            </a:extLst>
          </p:cNvPr>
          <p:cNvSpPr>
            <a:spLocks noGrp="1"/>
          </p:cNvSpPr>
          <p:nvPr/>
        </p:nvSpPr>
        <p:spPr>
          <a:xfrm>
            <a:off x="6648450" y="3143250"/>
            <a:ext cx="3943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Test whether feature-based roles also organize transaction-network structure.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34CB1ABE-7C58-406E-96B8-E94CF124D326}"/>
              </a:ext>
            </a:extLst>
          </p:cNvPr>
          <p:cNvSpPr>
            <a:spLocks noGrp="1"/>
          </p:cNvSpPr>
          <p:nvPr/>
        </p:nvSpPr>
        <p:spPr>
          <a:xfrm>
            <a:off x="781050" y="4210050"/>
            <a:ext cx="400050" cy="400050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D17CA2CB-8926-400B-BD9A-B59409FE5391}"/>
              </a:ext>
            </a:extLst>
          </p:cNvPr>
          <p:cNvSpPr>
            <a:spLocks noGrp="1"/>
          </p:cNvSpPr>
          <p:nvPr/>
        </p:nvSpPr>
        <p:spPr>
          <a:xfrm>
            <a:off x="781050" y="42862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7C54FE3F-2BFC-4FB6-ADE1-D61C611039A4}"/>
              </a:ext>
            </a:extLst>
          </p:cNvPr>
          <p:cNvSpPr>
            <a:spLocks noGrp="1"/>
          </p:cNvSpPr>
          <p:nvPr/>
        </p:nvSpPr>
        <p:spPr>
          <a:xfrm>
            <a:off x="1314450" y="4210050"/>
            <a:ext cx="3943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Temporal analysis</a:t>
            </a: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9EDFE3DB-48BE-4783-A690-11DBB3997119}"/>
              </a:ext>
            </a:extLst>
          </p:cNvPr>
          <p:cNvSpPr>
            <a:spLocks noGrp="1"/>
          </p:cNvSpPr>
          <p:nvPr/>
        </p:nvSpPr>
        <p:spPr>
          <a:xfrm>
            <a:off x="1314450" y="4495800"/>
            <a:ext cx="3943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Assign monthly wallet states and measure role retention and transition pathways.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16C14C7C-4609-4B46-AC4B-A2681EDA7F79}"/>
              </a:ext>
            </a:extLst>
          </p:cNvPr>
          <p:cNvSpPr>
            <a:spLocks noGrp="1"/>
          </p:cNvSpPr>
          <p:nvPr/>
        </p:nvSpPr>
        <p:spPr>
          <a:xfrm>
            <a:off x="6115050" y="4210050"/>
            <a:ext cx="400050" cy="4000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9B070AB5-7219-40FD-93A5-84A1D257F28E}"/>
              </a:ext>
            </a:extLst>
          </p:cNvPr>
          <p:cNvSpPr>
            <a:spLocks noGrp="1"/>
          </p:cNvSpPr>
          <p:nvPr/>
        </p:nvSpPr>
        <p:spPr>
          <a:xfrm>
            <a:off x="6115050" y="42862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8A4D74EC-4A59-43F4-8F80-5B7C880B1CA3}"/>
              </a:ext>
            </a:extLst>
          </p:cNvPr>
          <p:cNvSpPr>
            <a:spLocks noGrp="1"/>
          </p:cNvSpPr>
          <p:nvPr/>
        </p:nvSpPr>
        <p:spPr>
          <a:xfrm>
            <a:off x="6648450" y="4210050"/>
            <a:ext cx="3943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Robustness checks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1BBD97EE-A416-44F8-BD7B-A2F3946021DC}"/>
              </a:ext>
            </a:extLst>
          </p:cNvPr>
          <p:cNvSpPr>
            <a:spLocks noGrp="1"/>
          </p:cNvSpPr>
          <p:nvPr/>
        </p:nvSpPr>
        <p:spPr>
          <a:xfrm>
            <a:off x="6648450" y="4495800"/>
            <a:ext cx="3943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Add correspondence, permutation, feature-set, and observation-density tests.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2DD9674B-6D4F-46FD-B2D2-053F70FFD88B}"/>
              </a:ext>
            </a:extLst>
          </p:cNvPr>
          <p:cNvSpPr>
            <a:spLocks noGrp="1"/>
          </p:cNvSpPr>
          <p:nvPr/>
        </p:nvSpPr>
        <p:spPr>
          <a:xfrm>
            <a:off x="1924050" y="5924550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Output: a validated behavioural segmentation framework for Ethereum wallets.</a:t>
            </a:r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61276964-27BB-44AF-919D-88DE4FFB1C9A}"/>
              </a:ext>
            </a:extLst>
          </p:cNvPr>
          <p:cNvSpPr>
            <a:spLocks noGrp="1"/>
          </p:cNvSpPr>
          <p:nvPr/>
        </p:nvSpPr>
        <p:spPr>
          <a:xfrm>
            <a:off x="11468100" y="63246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43337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Dikdörtgen 32">
            <a:extLst>
              <a:ext uri="{FF2B5EF4-FFF2-40B4-BE49-F238E27FC236}">
                <a16:creationId xmlns:a16="http://schemas.microsoft.com/office/drawing/2014/main" id="{5E842F89-B1A3-4D4F-86E2-4B6DFCA149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6EABEC6C-AA68-417E-B762-C6262FA67E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AA4EFFAC-E613-4ECD-9D20-6FC5C7B5B244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DATA AND FEATURES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FE302A45-1ABB-47FD-A82B-64CDBE4BE8C7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rPr>
              <a:t>From raw transactions to wallet-level behaviour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654BC0C5-10A5-4F48-94E3-81BCFB510CF1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2381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933739C0-138A-4030-A9F0-316D284DAC17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47625" cy="8763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9FDFF7AF-0363-4D3B-9FC3-0DBE985B2FFC}"/>
              </a:ext>
            </a:extLst>
          </p:cNvPr>
          <p:cNvSpPr>
            <a:spLocks noGrp="1"/>
          </p:cNvSpPr>
          <p:nvPr/>
        </p:nvSpPr>
        <p:spPr>
          <a:xfrm>
            <a:off x="857250" y="1638300"/>
            <a:ext cx="2114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83.5M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1858219E-09EA-4FFB-9B89-57EB12A6EAF7}"/>
              </a:ext>
            </a:extLst>
          </p:cNvPr>
          <p:cNvSpPr>
            <a:spLocks noGrp="1"/>
          </p:cNvSpPr>
          <p:nvPr/>
        </p:nvSpPr>
        <p:spPr>
          <a:xfrm>
            <a:off x="857250" y="1981200"/>
            <a:ext cx="2114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daily rows read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E992848D-FD58-4F10-BDB0-3729FC08873B}"/>
              </a:ext>
            </a:extLst>
          </p:cNvPr>
          <p:cNvSpPr>
            <a:spLocks noGrp="1"/>
          </p:cNvSpPr>
          <p:nvPr/>
        </p:nvSpPr>
        <p:spPr>
          <a:xfrm>
            <a:off x="3352800" y="1485900"/>
            <a:ext cx="2381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E4E77CFA-36A6-4C83-A5FD-0ED6DD072791}"/>
              </a:ext>
            </a:extLst>
          </p:cNvPr>
          <p:cNvSpPr>
            <a:spLocks noGrp="1"/>
          </p:cNvSpPr>
          <p:nvPr/>
        </p:nvSpPr>
        <p:spPr>
          <a:xfrm>
            <a:off x="3352800" y="1485900"/>
            <a:ext cx="47625" cy="8763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30C9F98C-8C3B-4C66-84F6-34D5A23E5380}"/>
              </a:ext>
            </a:extLst>
          </p:cNvPr>
          <p:cNvSpPr>
            <a:spLocks noGrp="1"/>
          </p:cNvSpPr>
          <p:nvPr/>
        </p:nvSpPr>
        <p:spPr>
          <a:xfrm>
            <a:off x="3524250" y="1638300"/>
            <a:ext cx="2114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46.2M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3D5271F8-59AE-4339-B165-FE82EC33BC39}"/>
              </a:ext>
            </a:extLst>
          </p:cNvPr>
          <p:cNvSpPr>
            <a:spLocks noGrp="1"/>
          </p:cNvSpPr>
          <p:nvPr/>
        </p:nvSpPr>
        <p:spPr>
          <a:xfrm>
            <a:off x="3524250" y="1981200"/>
            <a:ext cx="2114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matched rows used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9DB7223B-4F8A-44DE-A2F9-1B08872D7202}"/>
              </a:ext>
            </a:extLst>
          </p:cNvPr>
          <p:cNvSpPr>
            <a:spLocks noGrp="1"/>
          </p:cNvSpPr>
          <p:nvPr/>
        </p:nvSpPr>
        <p:spPr>
          <a:xfrm>
            <a:off x="6019800" y="1485900"/>
            <a:ext cx="2381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194992E9-E3D1-47A9-BAC4-CA152C7E6EC2}"/>
              </a:ext>
            </a:extLst>
          </p:cNvPr>
          <p:cNvSpPr>
            <a:spLocks noGrp="1"/>
          </p:cNvSpPr>
          <p:nvPr/>
        </p:nvSpPr>
        <p:spPr>
          <a:xfrm>
            <a:off x="6019800" y="1485900"/>
            <a:ext cx="47625" cy="8763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96B6CE9D-2065-4CC2-B9AC-61500DD16D87}"/>
              </a:ext>
            </a:extLst>
          </p:cNvPr>
          <p:cNvSpPr>
            <a:spLocks noGrp="1"/>
          </p:cNvSpPr>
          <p:nvPr/>
        </p:nvSpPr>
        <p:spPr>
          <a:xfrm>
            <a:off x="6191250" y="1638300"/>
            <a:ext cx="2114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2.74M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D95FC344-FDA1-4C32-B0EC-03F3EC999472}"/>
              </a:ext>
            </a:extLst>
          </p:cNvPr>
          <p:cNvSpPr>
            <a:spLocks noGrp="1"/>
          </p:cNvSpPr>
          <p:nvPr/>
        </p:nvSpPr>
        <p:spPr>
          <a:xfrm>
            <a:off x="6191250" y="1981200"/>
            <a:ext cx="2114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wallets in final output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D67B9C82-43D4-475C-B67F-B16ECD4DCCB5}"/>
              </a:ext>
            </a:extLst>
          </p:cNvPr>
          <p:cNvSpPr>
            <a:spLocks noGrp="1"/>
          </p:cNvSpPr>
          <p:nvPr/>
        </p:nvSpPr>
        <p:spPr>
          <a:xfrm>
            <a:off x="8686800" y="1485900"/>
            <a:ext cx="2381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8186F2C1-449C-4485-9B7F-DC669DDC21E5}"/>
              </a:ext>
            </a:extLst>
          </p:cNvPr>
          <p:cNvSpPr>
            <a:spLocks noGrp="1"/>
          </p:cNvSpPr>
          <p:nvPr/>
        </p:nvSpPr>
        <p:spPr>
          <a:xfrm>
            <a:off x="8686800" y="1485900"/>
            <a:ext cx="47625" cy="876300"/>
          </a:xfrm>
          <a:prstGeom prst="rect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0A613C24-5584-489F-BC26-004F8DE690F7}"/>
              </a:ext>
            </a:extLst>
          </p:cNvPr>
          <p:cNvSpPr>
            <a:spLocks noGrp="1"/>
          </p:cNvSpPr>
          <p:nvPr/>
        </p:nvSpPr>
        <p:spPr>
          <a:xfrm>
            <a:off x="8858250" y="1638300"/>
            <a:ext cx="2114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B4C6BC11-FAAB-40C1-80BA-2FB53490D549}"/>
              </a:ext>
            </a:extLst>
          </p:cNvPr>
          <p:cNvSpPr>
            <a:spLocks noGrp="1"/>
          </p:cNvSpPr>
          <p:nvPr/>
        </p:nvSpPr>
        <p:spPr>
          <a:xfrm>
            <a:off x="8858250" y="1981200"/>
            <a:ext cx="2114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numeric behavioural features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B9342401-1D86-40E6-87A5-92B51985E9F8}"/>
              </a:ext>
            </a:extLst>
          </p:cNvPr>
          <p:cNvSpPr>
            <a:spLocks noGrp="1"/>
          </p:cNvSpPr>
          <p:nvPr/>
        </p:nvSpPr>
        <p:spPr>
          <a:xfrm>
            <a:off x="857250" y="3028950"/>
            <a:ext cx="990600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A67CFDBA-800F-4F7F-9A0A-931A1A1BC3E8}"/>
              </a:ext>
            </a:extLst>
          </p:cNvPr>
          <p:cNvSpPr>
            <a:spLocks noGrp="1"/>
          </p:cNvSpPr>
          <p:nvPr/>
        </p:nvSpPr>
        <p:spPr>
          <a:xfrm>
            <a:off x="1181100" y="33147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Feature families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A434B621-957E-4D6F-AE5B-CA8B9A0C1F6E}"/>
              </a:ext>
            </a:extLst>
          </p:cNvPr>
          <p:cNvSpPr>
            <a:spLocks noGrp="1"/>
          </p:cNvSpPr>
          <p:nvPr/>
        </p:nvSpPr>
        <p:spPr>
          <a:xfrm>
            <a:off x="1314450" y="38576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623313A2-13BB-4626-86DB-1F1A1D144814}"/>
              </a:ext>
            </a:extLst>
          </p:cNvPr>
          <p:cNvSpPr>
            <a:spLocks noGrp="1"/>
          </p:cNvSpPr>
          <p:nvPr/>
        </p:nvSpPr>
        <p:spPr>
          <a:xfrm>
            <a:off x="1524000" y="3790950"/>
            <a:ext cx="8267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Activity intensity: how often wallets transact and how persistent their activity is.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52329755-EA14-456B-8AD7-B27035AA9942}"/>
              </a:ext>
            </a:extLst>
          </p:cNvPr>
          <p:cNvSpPr>
            <a:spLocks noGrp="1"/>
          </p:cNvSpPr>
          <p:nvPr/>
        </p:nvSpPr>
        <p:spPr>
          <a:xfrm>
            <a:off x="1314450" y="42386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45E318AD-56B6-4CD7-BB7F-3D2564043CBB}"/>
              </a:ext>
            </a:extLst>
          </p:cNvPr>
          <p:cNvSpPr>
            <a:spLocks noGrp="1"/>
          </p:cNvSpPr>
          <p:nvPr/>
        </p:nvSpPr>
        <p:spPr>
          <a:xfrm>
            <a:off x="1524000" y="4171950"/>
            <a:ext cx="8267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Value flow: how much value wallets send and receive.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061B7AAD-0EDD-4AE6-9F9C-EC0B7788FC22}"/>
              </a:ext>
            </a:extLst>
          </p:cNvPr>
          <p:cNvSpPr>
            <a:spLocks noGrp="1"/>
          </p:cNvSpPr>
          <p:nvPr/>
        </p:nvSpPr>
        <p:spPr>
          <a:xfrm>
            <a:off x="1314450" y="46196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B3C1DA21-BCBA-41AB-AC11-3B7F537B43F7}"/>
              </a:ext>
            </a:extLst>
          </p:cNvPr>
          <p:cNvSpPr>
            <a:spLocks noGrp="1"/>
          </p:cNvSpPr>
          <p:nvPr/>
        </p:nvSpPr>
        <p:spPr>
          <a:xfrm>
            <a:off x="1524000" y="4552950"/>
            <a:ext cx="8267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Directionality: whether behaviour is sender-oriented, receiver-oriented, or mixed.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48458748-D6B7-4EE2-B0A6-40D4E6EE716D}"/>
              </a:ext>
            </a:extLst>
          </p:cNvPr>
          <p:cNvSpPr>
            <a:spLocks noGrp="1"/>
          </p:cNvSpPr>
          <p:nvPr/>
        </p:nvSpPr>
        <p:spPr>
          <a:xfrm>
            <a:off x="1314450" y="50006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8DB10943-D56E-4D8D-9D0B-7B034D568071}"/>
              </a:ext>
            </a:extLst>
          </p:cNvPr>
          <p:cNvSpPr>
            <a:spLocks noGrp="1"/>
          </p:cNvSpPr>
          <p:nvPr/>
        </p:nvSpPr>
        <p:spPr>
          <a:xfrm>
            <a:off x="1524000" y="4933950"/>
            <a:ext cx="8267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Volatility and concentration: whether activity is steady, bursty, broad, or focused.</a:t>
            </a: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3FA49986-F3FE-480D-9A2A-9CB09968AB42}"/>
              </a:ext>
            </a:extLst>
          </p:cNvPr>
          <p:cNvSpPr>
            <a:spLocks noGrp="1"/>
          </p:cNvSpPr>
          <p:nvPr/>
        </p:nvSpPr>
        <p:spPr>
          <a:xfrm>
            <a:off x="1638300" y="5867400"/>
            <a:ext cx="8382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Finding from this stage: the dataset was large enough to support wallet-level modelling, but sparse enough that stability had to be tested explicitly.</a:t>
            </a:r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B3D5FFF6-A43F-4184-B426-A7426606C080}"/>
              </a:ext>
            </a:extLst>
          </p:cNvPr>
          <p:cNvSpPr>
            <a:spLocks noGrp="1"/>
          </p:cNvSpPr>
          <p:nvPr/>
        </p:nvSpPr>
        <p:spPr>
          <a:xfrm>
            <a:off x="11468100" y="63246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52398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Dikdörtgen 40">
            <a:extLst>
              <a:ext uri="{FF2B5EF4-FFF2-40B4-BE49-F238E27FC236}">
                <a16:creationId xmlns:a16="http://schemas.microsoft.com/office/drawing/2014/main" id="{DD024348-8A3B-440C-A7CF-354402498F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A754A840-A837-48A3-9508-F940FB1748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BB2662C1-0329-4ABA-960D-6DA2E04DADE6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ROLE DISCOVERY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0B2BC92F-67A3-4A0A-BD68-F34FFB0B8291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rPr>
              <a:t>Six behavioural wallet roles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BACCB784-06A1-4264-891E-ADCC0C6892D1}"/>
              </a:ext>
            </a:extLst>
          </p:cNvPr>
          <p:cNvSpPr>
            <a:spLocks noGrp="1"/>
          </p:cNvSpPr>
          <p:nvPr/>
        </p:nvSpPr>
        <p:spPr>
          <a:xfrm>
            <a:off x="723900" y="1409700"/>
            <a:ext cx="57531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BD375D71-2C01-4E15-A621-FAA215C65A70}"/>
              </a:ext>
            </a:extLst>
          </p:cNvPr>
          <p:cNvSpPr>
            <a:spLocks noGrp="1"/>
          </p:cNvSpPr>
          <p:nvPr/>
        </p:nvSpPr>
        <p:spPr>
          <a:xfrm>
            <a:off x="1066800" y="1809750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C2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AF78C270-3972-4976-876E-37D42594220A}"/>
              </a:ext>
            </a:extLst>
          </p:cNvPr>
          <p:cNvSpPr>
            <a:spLocks noGrp="1"/>
          </p:cNvSpPr>
          <p:nvPr/>
        </p:nvSpPr>
        <p:spPr>
          <a:xfrm>
            <a:off x="1524000" y="1828800"/>
            <a:ext cx="3143250" cy="152400"/>
          </a:xfrm>
          <a:prstGeom prst="rect">
            <a:avLst/>
          </a:prstGeom>
          <a:solidFill>
            <a:srgbClr val="E8EC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05A7C38B-00A9-40BF-AAD0-E5063FEA8AF1}"/>
              </a:ext>
            </a:extLst>
          </p:cNvPr>
          <p:cNvSpPr>
            <a:spLocks noGrp="1"/>
          </p:cNvSpPr>
          <p:nvPr/>
        </p:nvSpPr>
        <p:spPr>
          <a:xfrm>
            <a:off x="1524000" y="1828800"/>
            <a:ext cx="3143250" cy="1524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DD440E94-E28F-4A38-A5EB-9F5286059548}"/>
              </a:ext>
            </a:extLst>
          </p:cNvPr>
          <p:cNvSpPr>
            <a:spLocks noGrp="1"/>
          </p:cNvSpPr>
          <p:nvPr/>
        </p:nvSpPr>
        <p:spPr>
          <a:xfrm>
            <a:off x="1524000" y="2038350"/>
            <a:ext cx="3476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low-activity / baseline wallets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6EBDD3B2-F08C-4912-BC37-FA5F0BB8F5B7}"/>
              </a:ext>
            </a:extLst>
          </p:cNvPr>
          <p:cNvSpPr>
            <a:spLocks noGrp="1"/>
          </p:cNvSpPr>
          <p:nvPr/>
        </p:nvSpPr>
        <p:spPr>
          <a:xfrm>
            <a:off x="5162550" y="20383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805,252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9D39C30A-D074-4678-BEEB-66564D5D3C82}"/>
              </a:ext>
            </a:extLst>
          </p:cNvPr>
          <p:cNvSpPr>
            <a:spLocks noGrp="1"/>
          </p:cNvSpPr>
          <p:nvPr/>
        </p:nvSpPr>
        <p:spPr>
          <a:xfrm>
            <a:off x="1066800" y="2362200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C4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6ABF5839-7D69-457E-B8CE-0FFDCC637440}"/>
              </a:ext>
            </a:extLst>
          </p:cNvPr>
          <p:cNvSpPr>
            <a:spLocks noGrp="1"/>
          </p:cNvSpPr>
          <p:nvPr/>
        </p:nvSpPr>
        <p:spPr>
          <a:xfrm>
            <a:off x="1524000" y="2381250"/>
            <a:ext cx="3143250" cy="152400"/>
          </a:xfrm>
          <a:prstGeom prst="rect">
            <a:avLst/>
          </a:prstGeom>
          <a:solidFill>
            <a:srgbClr val="E8EC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E43332CF-09E6-40BF-B6A9-39FD73458CB3}"/>
              </a:ext>
            </a:extLst>
          </p:cNvPr>
          <p:cNvSpPr>
            <a:spLocks noGrp="1"/>
          </p:cNvSpPr>
          <p:nvPr/>
        </p:nvSpPr>
        <p:spPr>
          <a:xfrm>
            <a:off x="1524000" y="2381250"/>
            <a:ext cx="3086100" cy="1524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CC0E1858-E1E6-44E7-A97C-69DD047D968E}"/>
              </a:ext>
            </a:extLst>
          </p:cNvPr>
          <p:cNvSpPr>
            <a:spLocks noGrp="1"/>
          </p:cNvSpPr>
          <p:nvPr/>
        </p:nvSpPr>
        <p:spPr>
          <a:xfrm>
            <a:off x="1524000" y="2590800"/>
            <a:ext cx="3476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receiver-oriented wallets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27A2AD87-0A9C-4E08-A844-430BC127D363}"/>
              </a:ext>
            </a:extLst>
          </p:cNvPr>
          <p:cNvSpPr>
            <a:spLocks noGrp="1"/>
          </p:cNvSpPr>
          <p:nvPr/>
        </p:nvSpPr>
        <p:spPr>
          <a:xfrm>
            <a:off x="5162550" y="25908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790,194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1FBDDA94-23E1-4E23-8521-4157C51D920A}"/>
              </a:ext>
            </a:extLst>
          </p:cNvPr>
          <p:cNvSpPr>
            <a:spLocks noGrp="1"/>
          </p:cNvSpPr>
          <p:nvPr/>
        </p:nvSpPr>
        <p:spPr>
          <a:xfrm>
            <a:off x="1066800" y="2914650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C0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06E457F8-5BBC-456C-94EB-C136D5ABE7B8}"/>
              </a:ext>
            </a:extLst>
          </p:cNvPr>
          <p:cNvSpPr>
            <a:spLocks noGrp="1"/>
          </p:cNvSpPr>
          <p:nvPr/>
        </p:nvSpPr>
        <p:spPr>
          <a:xfrm>
            <a:off x="1524000" y="2933700"/>
            <a:ext cx="3143250" cy="152400"/>
          </a:xfrm>
          <a:prstGeom prst="rect">
            <a:avLst/>
          </a:prstGeom>
          <a:solidFill>
            <a:srgbClr val="E8EC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5E4C6CC3-9613-4D09-9783-A136BA220984}"/>
              </a:ext>
            </a:extLst>
          </p:cNvPr>
          <p:cNvSpPr>
            <a:spLocks noGrp="1"/>
          </p:cNvSpPr>
          <p:nvPr/>
        </p:nvSpPr>
        <p:spPr>
          <a:xfrm>
            <a:off x="1524000" y="2933700"/>
            <a:ext cx="2409825" cy="152400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AE8FF8DF-FBC0-448A-896F-C76D8263A7AA}"/>
              </a:ext>
            </a:extLst>
          </p:cNvPr>
          <p:cNvSpPr>
            <a:spLocks noGrp="1"/>
          </p:cNvSpPr>
          <p:nvPr/>
        </p:nvSpPr>
        <p:spPr>
          <a:xfrm>
            <a:off x="1524000" y="3143250"/>
            <a:ext cx="3476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moderate general activity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AC793A78-BE54-46BB-8CBE-107E53CAC223}"/>
              </a:ext>
            </a:extLst>
          </p:cNvPr>
          <p:cNvSpPr>
            <a:spLocks noGrp="1"/>
          </p:cNvSpPr>
          <p:nvPr/>
        </p:nvSpPr>
        <p:spPr>
          <a:xfrm>
            <a:off x="5162550" y="31432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616,169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CDECF30B-3609-4105-8BA3-DA943D249EAD}"/>
              </a:ext>
            </a:extLst>
          </p:cNvPr>
          <p:cNvSpPr>
            <a:spLocks noGrp="1"/>
          </p:cNvSpPr>
          <p:nvPr/>
        </p:nvSpPr>
        <p:spPr>
          <a:xfrm>
            <a:off x="1066800" y="3467100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C1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B67D8A8C-C698-4F43-B9E9-243CF1A259E3}"/>
              </a:ext>
            </a:extLst>
          </p:cNvPr>
          <p:cNvSpPr>
            <a:spLocks noGrp="1"/>
          </p:cNvSpPr>
          <p:nvPr/>
        </p:nvSpPr>
        <p:spPr>
          <a:xfrm>
            <a:off x="1524000" y="3486150"/>
            <a:ext cx="3143250" cy="152400"/>
          </a:xfrm>
          <a:prstGeom prst="rect">
            <a:avLst/>
          </a:prstGeom>
          <a:solidFill>
            <a:srgbClr val="E8EC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97251269-E62C-4182-98CE-7AB9FB720F2C}"/>
              </a:ext>
            </a:extLst>
          </p:cNvPr>
          <p:cNvSpPr>
            <a:spLocks noGrp="1"/>
          </p:cNvSpPr>
          <p:nvPr/>
        </p:nvSpPr>
        <p:spPr>
          <a:xfrm>
            <a:off x="1524000" y="3486150"/>
            <a:ext cx="1104900" cy="152400"/>
          </a:xfrm>
          <a:prstGeom prst="rect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5B17475E-DBA7-45A4-8040-B5B846A9465D}"/>
              </a:ext>
            </a:extLst>
          </p:cNvPr>
          <p:cNvSpPr>
            <a:spLocks noGrp="1"/>
          </p:cNvSpPr>
          <p:nvPr/>
        </p:nvSpPr>
        <p:spPr>
          <a:xfrm>
            <a:off x="1524000" y="3695700"/>
            <a:ext cx="3476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sender or hub-oriented wallets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B0FB7D30-EE54-4BBD-8C91-DE47E5FAE87B}"/>
              </a:ext>
            </a:extLst>
          </p:cNvPr>
          <p:cNvSpPr>
            <a:spLocks noGrp="1"/>
          </p:cNvSpPr>
          <p:nvPr/>
        </p:nvSpPr>
        <p:spPr>
          <a:xfrm>
            <a:off x="5162550" y="36957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281,978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1A80547E-0A56-4B0E-AEF2-D656D18A2C87}"/>
              </a:ext>
            </a:extLst>
          </p:cNvPr>
          <p:cNvSpPr>
            <a:spLocks noGrp="1"/>
          </p:cNvSpPr>
          <p:nvPr/>
        </p:nvSpPr>
        <p:spPr>
          <a:xfrm>
            <a:off x="1066800" y="4019550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C3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AA049FAF-117F-4A8A-B531-8BF236E212F5}"/>
              </a:ext>
            </a:extLst>
          </p:cNvPr>
          <p:cNvSpPr>
            <a:spLocks noGrp="1"/>
          </p:cNvSpPr>
          <p:nvPr/>
        </p:nvSpPr>
        <p:spPr>
          <a:xfrm>
            <a:off x="1524000" y="4038600"/>
            <a:ext cx="3143250" cy="152400"/>
          </a:xfrm>
          <a:prstGeom prst="rect">
            <a:avLst/>
          </a:prstGeom>
          <a:solidFill>
            <a:srgbClr val="E8EC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8BFF71FA-CE4A-4CED-8EDF-F934E860551E}"/>
              </a:ext>
            </a:extLst>
          </p:cNvPr>
          <p:cNvSpPr>
            <a:spLocks noGrp="1"/>
          </p:cNvSpPr>
          <p:nvPr/>
        </p:nvSpPr>
        <p:spPr>
          <a:xfrm>
            <a:off x="1524000" y="4038600"/>
            <a:ext cx="819150" cy="1524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C3AC86BE-89C2-4BD1-860D-14CC82BEC33F}"/>
              </a:ext>
            </a:extLst>
          </p:cNvPr>
          <p:cNvSpPr>
            <a:spLocks noGrp="1"/>
          </p:cNvSpPr>
          <p:nvPr/>
        </p:nvSpPr>
        <p:spPr>
          <a:xfrm>
            <a:off x="1524000" y="4248150"/>
            <a:ext cx="3476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bridge-like or mixed interaction wallets</a:t>
            </a:r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6277B912-A3DF-44E4-B371-65502BC63A65}"/>
              </a:ext>
            </a:extLst>
          </p:cNvPr>
          <p:cNvSpPr>
            <a:spLocks noGrp="1"/>
          </p:cNvSpPr>
          <p:nvPr/>
        </p:nvSpPr>
        <p:spPr>
          <a:xfrm>
            <a:off x="5162550" y="42481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209,578</a:t>
            </a: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908CC4AA-3969-442C-94F0-6F652E8D9927}"/>
              </a:ext>
            </a:extLst>
          </p:cNvPr>
          <p:cNvSpPr>
            <a:spLocks noGrp="1"/>
          </p:cNvSpPr>
          <p:nvPr/>
        </p:nvSpPr>
        <p:spPr>
          <a:xfrm>
            <a:off x="1066800" y="4572000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C5</a:t>
            </a:r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6D31F9C4-4F89-4009-A98A-52F280482408}"/>
              </a:ext>
            </a:extLst>
          </p:cNvPr>
          <p:cNvSpPr>
            <a:spLocks noGrp="1"/>
          </p:cNvSpPr>
          <p:nvPr/>
        </p:nvSpPr>
        <p:spPr>
          <a:xfrm>
            <a:off x="1524000" y="4591050"/>
            <a:ext cx="3143250" cy="152400"/>
          </a:xfrm>
          <a:prstGeom prst="rect">
            <a:avLst/>
          </a:prstGeom>
          <a:solidFill>
            <a:srgbClr val="E8EC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9648F182-AC24-4AE6-8CAE-D54CF50D0C49}"/>
              </a:ext>
            </a:extLst>
          </p:cNvPr>
          <p:cNvSpPr>
            <a:spLocks noGrp="1"/>
          </p:cNvSpPr>
          <p:nvPr/>
        </p:nvSpPr>
        <p:spPr>
          <a:xfrm>
            <a:off x="1524000" y="4591050"/>
            <a:ext cx="323850" cy="1524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CF83B744-0630-485A-9F92-B70F7195414F}"/>
              </a:ext>
            </a:extLst>
          </p:cNvPr>
          <p:cNvSpPr>
            <a:spLocks noGrp="1"/>
          </p:cNvSpPr>
          <p:nvPr/>
        </p:nvSpPr>
        <p:spPr>
          <a:xfrm>
            <a:off x="1524000" y="4800600"/>
            <a:ext cx="3476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small specialized activity pattern</a:t>
            </a:r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6AC0E481-E3BD-4905-9835-9EDAEA9D7559}"/>
              </a:ext>
            </a:extLst>
          </p:cNvPr>
          <p:cNvSpPr>
            <a:spLocks noGrp="1"/>
          </p:cNvSpPr>
          <p:nvPr/>
        </p:nvSpPr>
        <p:spPr>
          <a:xfrm>
            <a:off x="5162550" y="48006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35,072</a:t>
            </a:r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BE5BE5C8-2220-494F-B581-D28B358AE4D5}"/>
              </a:ext>
            </a:extLst>
          </p:cNvPr>
          <p:cNvSpPr>
            <a:spLocks noGrp="1"/>
          </p:cNvSpPr>
          <p:nvPr/>
        </p:nvSpPr>
        <p:spPr>
          <a:xfrm>
            <a:off x="7010400" y="1409700"/>
            <a:ext cx="382905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E12F71B3-3BB6-45A5-910F-FA8CA04EC990}"/>
              </a:ext>
            </a:extLst>
          </p:cNvPr>
          <p:cNvSpPr>
            <a:spLocks noGrp="1"/>
          </p:cNvSpPr>
          <p:nvPr/>
        </p:nvSpPr>
        <p:spPr>
          <a:xfrm>
            <a:off x="7296150" y="180975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Interpretation principle</a:t>
            </a:r>
          </a:p>
        </p:txBody>
      </p:sp>
      <p:sp>
        <p:nvSpPr>
          <p:cNvPr id="38" name="Dikdörtgen 37">
            <a:extLst>
              <a:ext uri="{FF2B5EF4-FFF2-40B4-BE49-F238E27FC236}">
                <a16:creationId xmlns:a16="http://schemas.microsoft.com/office/drawing/2014/main" id="{735AC6D3-AD0E-4246-AF8E-1016BBA0CAB6}"/>
              </a:ext>
            </a:extLst>
          </p:cNvPr>
          <p:cNvSpPr>
            <a:spLocks noGrp="1"/>
          </p:cNvSpPr>
          <p:nvPr/>
        </p:nvSpPr>
        <p:spPr>
          <a:xfrm>
            <a:off x="7296150" y="2324100"/>
            <a:ext cx="302895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The labels were not manually assigned before clustering. They were interpreted after comparing cluster feature profiles, network position, and temporal behaviour.</a:t>
            </a:r>
          </a:p>
        </p:txBody>
      </p:sp>
      <p:sp>
        <p:nvSpPr>
          <p:cNvPr id="39" name="Dikdörtgen 38">
            <a:extLst>
              <a:ext uri="{FF2B5EF4-FFF2-40B4-BE49-F238E27FC236}">
                <a16:creationId xmlns:a16="http://schemas.microsoft.com/office/drawing/2014/main" id="{0DD7F116-2325-4194-8FE2-DB91B3114E0B}"/>
              </a:ext>
            </a:extLst>
          </p:cNvPr>
          <p:cNvSpPr>
            <a:spLocks noGrp="1"/>
          </p:cNvSpPr>
          <p:nvPr/>
        </p:nvSpPr>
        <p:spPr>
          <a:xfrm>
            <a:off x="7296150" y="4095750"/>
            <a:ext cx="30289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This gives the project a behavioural vocabulary for millions of addresses.</a:t>
            </a:r>
          </a:p>
        </p:txBody>
      </p:sp>
      <p:sp>
        <p:nvSpPr>
          <p:cNvPr id="40" name="Dikdörtgen 39">
            <a:extLst>
              <a:ext uri="{FF2B5EF4-FFF2-40B4-BE49-F238E27FC236}">
                <a16:creationId xmlns:a16="http://schemas.microsoft.com/office/drawing/2014/main" id="{AF935964-2CA9-4AA5-80C6-82705F731520}"/>
              </a:ext>
            </a:extLst>
          </p:cNvPr>
          <p:cNvSpPr>
            <a:spLocks noGrp="1"/>
          </p:cNvSpPr>
          <p:nvPr/>
        </p:nvSpPr>
        <p:spPr>
          <a:xfrm>
            <a:off x="11468100" y="63246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08370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ikdörtgen 17">
            <a:extLst>
              <a:ext uri="{FF2B5EF4-FFF2-40B4-BE49-F238E27FC236}">
                <a16:creationId xmlns:a16="http://schemas.microsoft.com/office/drawing/2014/main" id="{D7F7A418-DD89-4D3B-B08D-400BA0C3E2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2133E8CA-1949-40DB-9188-5983417411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9C3A8E01-58F9-4D56-8E60-58592BB6846A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INTERPRETABILITY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C3145378-1B5C-49C5-B12E-FC77D3DA68A6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rPr>
              <a:t>What separates the roles?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A53781FB-2227-43A6-A7B9-73D8FC265B75}"/>
              </a:ext>
            </a:extLst>
          </p:cNvPr>
          <p:cNvSpPr>
            <a:spLocks noGrp="1"/>
          </p:cNvSpPr>
          <p:nvPr/>
        </p:nvSpPr>
        <p:spPr>
          <a:xfrm>
            <a:off x="647700" y="1390650"/>
            <a:ext cx="6667500" cy="419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1905000"/>
            <a:ext cx="6286500" cy="3143250"/>
          </a:xfrm>
          <a:prstGeom prst="rect">
            <a:avLst/>
          </a:prstGeom>
        </p:spPr>
      </p:pic>
      <p:sp>
        <p:nvSpPr>
          <p:cNvPr id="7" name="Dikdörtgen 6">
            <a:extLst>
              <a:ext uri="{FF2B5EF4-FFF2-40B4-BE49-F238E27FC236}">
                <a16:creationId xmlns:a16="http://schemas.microsoft.com/office/drawing/2014/main" id="{304D1F24-9267-4142-BDE3-0DE20B01EBC7}"/>
              </a:ext>
            </a:extLst>
          </p:cNvPr>
          <p:cNvSpPr>
            <a:spLocks noGrp="1"/>
          </p:cNvSpPr>
          <p:nvPr/>
        </p:nvSpPr>
        <p:spPr>
          <a:xfrm>
            <a:off x="7753350" y="1390650"/>
            <a:ext cx="3333750" cy="419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72DEC45D-1466-4AD7-9D0D-36060FC9B3CC}"/>
              </a:ext>
            </a:extLst>
          </p:cNvPr>
          <p:cNvSpPr>
            <a:spLocks noGrp="1"/>
          </p:cNvSpPr>
          <p:nvPr/>
        </p:nvSpPr>
        <p:spPr>
          <a:xfrm>
            <a:off x="8039100" y="17907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Reading the heatmap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E9BD9E46-7CFB-44D1-AA89-CCF2BACB2551}"/>
              </a:ext>
            </a:extLst>
          </p:cNvPr>
          <p:cNvSpPr>
            <a:spLocks noGrp="1"/>
          </p:cNvSpPr>
          <p:nvPr/>
        </p:nvSpPr>
        <p:spPr>
          <a:xfrm>
            <a:off x="8153400" y="24098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645C501B-2D09-4942-A5C8-7C6150E31F0D}"/>
              </a:ext>
            </a:extLst>
          </p:cNvPr>
          <p:cNvSpPr>
            <a:spLocks noGrp="1"/>
          </p:cNvSpPr>
          <p:nvPr/>
        </p:nvSpPr>
        <p:spPr>
          <a:xfrm>
            <a:off x="8362950" y="2343150"/>
            <a:ext cx="2171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Rows are wallet roles.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8C4DDF95-2173-4442-B284-D1F994D1F516}"/>
              </a:ext>
            </a:extLst>
          </p:cNvPr>
          <p:cNvSpPr>
            <a:spLocks noGrp="1"/>
          </p:cNvSpPr>
          <p:nvPr/>
        </p:nvSpPr>
        <p:spPr>
          <a:xfrm>
            <a:off x="8153400" y="30003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50998826-8D9C-46D8-A052-C36308ED9973}"/>
              </a:ext>
            </a:extLst>
          </p:cNvPr>
          <p:cNvSpPr>
            <a:spLocks noGrp="1"/>
          </p:cNvSpPr>
          <p:nvPr/>
        </p:nvSpPr>
        <p:spPr>
          <a:xfrm>
            <a:off x="8362950" y="2933700"/>
            <a:ext cx="2171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Columns are normalized behavioural features.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46600300-888B-4A15-829A-57D1575A9CA4}"/>
              </a:ext>
            </a:extLst>
          </p:cNvPr>
          <p:cNvSpPr>
            <a:spLocks noGrp="1"/>
          </p:cNvSpPr>
          <p:nvPr/>
        </p:nvSpPr>
        <p:spPr>
          <a:xfrm>
            <a:off x="8153400" y="35909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89EB89D2-52D4-4D21-9EA1-70C7287A5113}"/>
              </a:ext>
            </a:extLst>
          </p:cNvPr>
          <p:cNvSpPr>
            <a:spLocks noGrp="1"/>
          </p:cNvSpPr>
          <p:nvPr/>
        </p:nvSpPr>
        <p:spPr>
          <a:xfrm>
            <a:off x="8362950" y="3524250"/>
            <a:ext cx="2171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Color differences show which behaviours distinguish each role.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53BC263B-FAC9-42FA-A1BE-EB275296F996}"/>
              </a:ext>
            </a:extLst>
          </p:cNvPr>
          <p:cNvSpPr>
            <a:spLocks noGrp="1"/>
          </p:cNvSpPr>
          <p:nvPr/>
        </p:nvSpPr>
        <p:spPr>
          <a:xfrm>
            <a:off x="8153400" y="41814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4EC63D3A-3F67-4A67-85B6-5ADDDCACD3E3}"/>
              </a:ext>
            </a:extLst>
          </p:cNvPr>
          <p:cNvSpPr>
            <a:spLocks noGrp="1"/>
          </p:cNvSpPr>
          <p:nvPr/>
        </p:nvSpPr>
        <p:spPr>
          <a:xfrm>
            <a:off x="8362950" y="4114800"/>
            <a:ext cx="2171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The clusters become explainable profiles rather than black-box labels.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7514D360-F552-48AF-A7B4-3EAA36180546}"/>
              </a:ext>
            </a:extLst>
          </p:cNvPr>
          <p:cNvSpPr>
            <a:spLocks noGrp="1"/>
          </p:cNvSpPr>
          <p:nvPr/>
        </p:nvSpPr>
        <p:spPr>
          <a:xfrm>
            <a:off x="11468100" y="63246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19655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Dikdörtgen 31">
            <a:extLst>
              <a:ext uri="{FF2B5EF4-FFF2-40B4-BE49-F238E27FC236}">
                <a16:creationId xmlns:a16="http://schemas.microsoft.com/office/drawing/2014/main" id="{F9818B59-DD85-48E9-BB15-6BD7B4A831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C31B3B03-470B-4FE2-AD27-413449E2B6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5FE7ECBF-3AC6-4CFA-ADFA-C302C6E7E432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NETWORK VALIDATION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E2D09AB1-F85C-4197-804E-8A7D072A87C8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rPr>
              <a:t>Do the roles organize the transaction graph?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8ED28E2B-7039-4116-8D5A-EA59FA49422B}"/>
              </a:ext>
            </a:extLst>
          </p:cNvPr>
          <p:cNvSpPr>
            <a:spLocks noGrp="1"/>
          </p:cNvSpPr>
          <p:nvPr/>
        </p:nvSpPr>
        <p:spPr>
          <a:xfrm>
            <a:off x="666750" y="1485900"/>
            <a:ext cx="2381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B1B8AFF4-AABB-4625-B06E-A6E54932CC55}"/>
              </a:ext>
            </a:extLst>
          </p:cNvPr>
          <p:cNvSpPr>
            <a:spLocks noGrp="1"/>
          </p:cNvSpPr>
          <p:nvPr/>
        </p:nvSpPr>
        <p:spPr>
          <a:xfrm>
            <a:off x="666750" y="1485900"/>
            <a:ext cx="47625" cy="8763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A0491537-B7E4-4665-B426-0934D47B23E9}"/>
              </a:ext>
            </a:extLst>
          </p:cNvPr>
          <p:cNvSpPr>
            <a:spLocks noGrp="1"/>
          </p:cNvSpPr>
          <p:nvPr/>
        </p:nvSpPr>
        <p:spPr>
          <a:xfrm>
            <a:off x="838200" y="1638300"/>
            <a:ext cx="2114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23,755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F5BF0962-2B33-4C11-B17B-06CA7DEFCC07}"/>
              </a:ext>
            </a:extLst>
          </p:cNvPr>
          <p:cNvSpPr>
            <a:spLocks noGrp="1"/>
          </p:cNvSpPr>
          <p:nvPr/>
        </p:nvSpPr>
        <p:spPr>
          <a:xfrm>
            <a:off x="838200" y="1981200"/>
            <a:ext cx="2114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nodes in network summary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39B0228E-655A-42EC-A2DE-A6AC257CD9B5}"/>
              </a:ext>
            </a:extLst>
          </p:cNvPr>
          <p:cNvSpPr>
            <a:spLocks noGrp="1"/>
          </p:cNvSpPr>
          <p:nvPr/>
        </p:nvSpPr>
        <p:spPr>
          <a:xfrm>
            <a:off x="3333750" y="1485900"/>
            <a:ext cx="2381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6DC02D72-48FC-413D-B5E4-E138BAE3EF4D}"/>
              </a:ext>
            </a:extLst>
          </p:cNvPr>
          <p:cNvSpPr>
            <a:spLocks noGrp="1"/>
          </p:cNvSpPr>
          <p:nvPr/>
        </p:nvSpPr>
        <p:spPr>
          <a:xfrm>
            <a:off x="3333750" y="1485900"/>
            <a:ext cx="47625" cy="8763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F2F660C9-6799-4557-A139-EF7AF0D34691}"/>
              </a:ext>
            </a:extLst>
          </p:cNvPr>
          <p:cNvSpPr>
            <a:spLocks noGrp="1"/>
          </p:cNvSpPr>
          <p:nvPr/>
        </p:nvSpPr>
        <p:spPr>
          <a:xfrm>
            <a:off x="3505200" y="1638300"/>
            <a:ext cx="2114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80,596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9C8B91AD-5DB3-4C2B-93A2-43FB4FDE5211}"/>
              </a:ext>
            </a:extLst>
          </p:cNvPr>
          <p:cNvSpPr>
            <a:spLocks noGrp="1"/>
          </p:cNvSpPr>
          <p:nvPr/>
        </p:nvSpPr>
        <p:spPr>
          <a:xfrm>
            <a:off x="3505200" y="1981200"/>
            <a:ext cx="2114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transaction edges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59EABA19-4441-4C21-8C0F-66D9F124D713}"/>
              </a:ext>
            </a:extLst>
          </p:cNvPr>
          <p:cNvSpPr>
            <a:spLocks noGrp="1"/>
          </p:cNvSpPr>
          <p:nvPr/>
        </p:nvSpPr>
        <p:spPr>
          <a:xfrm>
            <a:off x="6000750" y="1485900"/>
            <a:ext cx="2381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CC58701F-C234-4C34-A9DF-EB4112B67C15}"/>
              </a:ext>
            </a:extLst>
          </p:cNvPr>
          <p:cNvSpPr>
            <a:spLocks noGrp="1"/>
          </p:cNvSpPr>
          <p:nvPr/>
        </p:nvSpPr>
        <p:spPr>
          <a:xfrm>
            <a:off x="6000750" y="1485900"/>
            <a:ext cx="47625" cy="8763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958470E4-5E61-40E6-BD3C-EEEAC53C4EF3}"/>
              </a:ext>
            </a:extLst>
          </p:cNvPr>
          <p:cNvSpPr>
            <a:spLocks noGrp="1"/>
          </p:cNvSpPr>
          <p:nvPr/>
        </p:nvSpPr>
        <p:spPr>
          <a:xfrm>
            <a:off x="6172200" y="1638300"/>
            <a:ext cx="2114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0.777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1FA2FE9B-CBC2-4395-9B37-0B7359F2E664}"/>
              </a:ext>
            </a:extLst>
          </p:cNvPr>
          <p:cNvSpPr>
            <a:spLocks noGrp="1"/>
          </p:cNvSpPr>
          <p:nvPr/>
        </p:nvSpPr>
        <p:spPr>
          <a:xfrm>
            <a:off x="6172200" y="1981200"/>
            <a:ext cx="2114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modularity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F34DDE10-AD66-4C75-9855-49A3EBBB33EA}"/>
              </a:ext>
            </a:extLst>
          </p:cNvPr>
          <p:cNvSpPr>
            <a:spLocks noGrp="1"/>
          </p:cNvSpPr>
          <p:nvPr/>
        </p:nvSpPr>
        <p:spPr>
          <a:xfrm>
            <a:off x="8667750" y="1485900"/>
            <a:ext cx="2381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9895BEEF-A523-442E-BC73-14A7D9C97A6B}"/>
              </a:ext>
            </a:extLst>
          </p:cNvPr>
          <p:cNvSpPr>
            <a:spLocks noGrp="1"/>
          </p:cNvSpPr>
          <p:nvPr/>
        </p:nvSpPr>
        <p:spPr>
          <a:xfrm>
            <a:off x="8667750" y="1485900"/>
            <a:ext cx="47625" cy="876300"/>
          </a:xfrm>
          <a:prstGeom prst="rect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395C753B-CB76-41EC-8E8F-0557FBAC03CE}"/>
              </a:ext>
            </a:extLst>
          </p:cNvPr>
          <p:cNvSpPr>
            <a:spLocks noGrp="1"/>
          </p:cNvSpPr>
          <p:nvPr/>
        </p:nvSpPr>
        <p:spPr>
          <a:xfrm>
            <a:off x="8839200" y="1638300"/>
            <a:ext cx="2114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0.932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774D1A90-74A2-45A1-AB4F-CA467CB5E978}"/>
              </a:ext>
            </a:extLst>
          </p:cNvPr>
          <p:cNvSpPr>
            <a:spLocks noGrp="1"/>
          </p:cNvSpPr>
          <p:nvPr/>
        </p:nvSpPr>
        <p:spPr>
          <a:xfrm>
            <a:off x="8839200" y="1981200"/>
            <a:ext cx="2114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assortativity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123C53D9-265F-4012-9A8B-4A949699B89A}"/>
              </a:ext>
            </a:extLst>
          </p:cNvPr>
          <p:cNvSpPr>
            <a:spLocks noGrp="1"/>
          </p:cNvSpPr>
          <p:nvPr/>
        </p:nvSpPr>
        <p:spPr>
          <a:xfrm>
            <a:off x="876300" y="3143250"/>
            <a:ext cx="4619625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B61371E4-4E6C-4FDE-AF7A-178BE70E4B82}"/>
              </a:ext>
            </a:extLst>
          </p:cNvPr>
          <p:cNvSpPr>
            <a:spLocks noGrp="1"/>
          </p:cNvSpPr>
          <p:nvPr/>
        </p:nvSpPr>
        <p:spPr>
          <a:xfrm>
            <a:off x="1181100" y="34480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Modularity, simply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8172D292-14D6-4A31-9163-C421A507487D}"/>
              </a:ext>
            </a:extLst>
          </p:cNvPr>
          <p:cNvSpPr>
            <a:spLocks noGrp="1"/>
          </p:cNvSpPr>
          <p:nvPr/>
        </p:nvSpPr>
        <p:spPr>
          <a:xfrm>
            <a:off x="1181100" y="3943350"/>
            <a:ext cx="361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If wallets in the same role form clear communities in the network, modularity is high. Here it suggests strong community structure.</a:t>
            </a: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1FE7D0A4-C8ED-4BAE-A4F7-C1AA62FC3BDE}"/>
              </a:ext>
            </a:extLst>
          </p:cNvPr>
          <p:cNvSpPr>
            <a:spLocks noGrp="1"/>
          </p:cNvSpPr>
          <p:nvPr/>
        </p:nvSpPr>
        <p:spPr>
          <a:xfrm>
            <a:off x="6210300" y="3143250"/>
            <a:ext cx="4619625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039218D2-2ADC-42A7-A0B0-B5FA19579EC1}"/>
              </a:ext>
            </a:extLst>
          </p:cNvPr>
          <p:cNvSpPr>
            <a:spLocks noGrp="1"/>
          </p:cNvSpPr>
          <p:nvPr/>
        </p:nvSpPr>
        <p:spPr>
          <a:xfrm>
            <a:off x="6515100" y="3448050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Assortativity, simply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429A31CA-BF7D-49A3-B5E3-B955AFC56C75}"/>
              </a:ext>
            </a:extLst>
          </p:cNvPr>
          <p:cNvSpPr>
            <a:spLocks noGrp="1"/>
          </p:cNvSpPr>
          <p:nvPr/>
        </p:nvSpPr>
        <p:spPr>
          <a:xfrm>
            <a:off x="6515100" y="3943350"/>
            <a:ext cx="361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If wallets connect more often to wallets with the same role, assortativity is high. Here it shows strong role-to-role organization.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3E20A9D6-E85D-4E9F-B3B8-482C2764B092}"/>
              </a:ext>
            </a:extLst>
          </p:cNvPr>
          <p:cNvSpPr>
            <a:spLocks noGrp="1"/>
          </p:cNvSpPr>
          <p:nvPr/>
        </p:nvSpPr>
        <p:spPr>
          <a:xfrm>
            <a:off x="1562100" y="58197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DD100229-CF6B-49B4-A093-E2BF96028708}"/>
              </a:ext>
            </a:extLst>
          </p:cNvPr>
          <p:cNvSpPr>
            <a:spLocks noGrp="1"/>
          </p:cNvSpPr>
          <p:nvPr/>
        </p:nvSpPr>
        <p:spPr>
          <a:xfrm>
            <a:off x="1771650" y="5753100"/>
            <a:ext cx="8077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Random-label comparison: real same-role structure was about 5.66 times stronger than random.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DA53AB85-C5C3-4E9F-98DA-F7F1C3459A7F}"/>
              </a:ext>
            </a:extLst>
          </p:cNvPr>
          <p:cNvSpPr>
            <a:spLocks noGrp="1"/>
          </p:cNvSpPr>
          <p:nvPr/>
        </p:nvSpPr>
        <p:spPr>
          <a:xfrm>
            <a:off x="1562100" y="61245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EE2DADE8-E9B3-4739-83B1-4FC18C7B2D8E}"/>
              </a:ext>
            </a:extLst>
          </p:cNvPr>
          <p:cNvSpPr>
            <a:spLocks noGrp="1"/>
          </p:cNvSpPr>
          <p:nvPr/>
        </p:nvSpPr>
        <p:spPr>
          <a:xfrm>
            <a:off x="1771650" y="6057900"/>
            <a:ext cx="8077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Empirical p-value: 0.000999.</a:t>
            </a: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8247C038-6BBA-4F1F-BA87-18619FB788C8}"/>
              </a:ext>
            </a:extLst>
          </p:cNvPr>
          <p:cNvSpPr>
            <a:spLocks noGrp="1"/>
          </p:cNvSpPr>
          <p:nvPr/>
        </p:nvSpPr>
        <p:spPr>
          <a:xfrm>
            <a:off x="11468100" y="63246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38834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ikdörtgen 17">
            <a:extLst>
              <a:ext uri="{FF2B5EF4-FFF2-40B4-BE49-F238E27FC236}">
                <a16:creationId xmlns:a16="http://schemas.microsoft.com/office/drawing/2014/main" id="{0119D735-FD77-47AD-B9F0-A4FFEF41EE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7318D7BE-545F-4A5F-9FD8-806045E24F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830CDE93-0CF0-49C2-ACFA-102B81072DAF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ROLE INTERACTIONS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AD665766-35BE-41FF-8D4C-46FC24757460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rPr>
              <a:t>How wallet roles transact with each other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3F8A834B-0C9B-419B-A373-CD5B17BAD2FC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6191250" cy="428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40246" y="1600200"/>
            <a:ext cx="4644259" cy="3848100"/>
          </a:xfrm>
          <a:prstGeom prst="rect">
            <a:avLst/>
          </a:prstGeom>
        </p:spPr>
      </p:pic>
      <p:sp>
        <p:nvSpPr>
          <p:cNvPr id="7" name="Dikdörtgen 6">
            <a:extLst>
              <a:ext uri="{FF2B5EF4-FFF2-40B4-BE49-F238E27FC236}">
                <a16:creationId xmlns:a16="http://schemas.microsoft.com/office/drawing/2014/main" id="{D19BCE4D-28C7-41CA-B567-BE1D22359B1B}"/>
              </a:ext>
            </a:extLst>
          </p:cNvPr>
          <p:cNvSpPr>
            <a:spLocks noGrp="1"/>
          </p:cNvSpPr>
          <p:nvPr/>
        </p:nvSpPr>
        <p:spPr>
          <a:xfrm>
            <a:off x="7334250" y="1390650"/>
            <a:ext cx="3714750" cy="428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8CEBB18C-440A-457D-A0DE-B4B0A9836C32}"/>
              </a:ext>
            </a:extLst>
          </p:cNvPr>
          <p:cNvSpPr>
            <a:spLocks noGrp="1"/>
          </p:cNvSpPr>
          <p:nvPr/>
        </p:nvSpPr>
        <p:spPr>
          <a:xfrm>
            <a:off x="7639050" y="17907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Main reading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6B01FEEF-FF0B-47B1-8957-89D2CF2E4EC5}"/>
              </a:ext>
            </a:extLst>
          </p:cNvPr>
          <p:cNvSpPr>
            <a:spLocks noGrp="1"/>
          </p:cNvSpPr>
          <p:nvPr/>
        </p:nvSpPr>
        <p:spPr>
          <a:xfrm>
            <a:off x="7753350" y="24098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5F7A3438-4F4D-42EC-A9A2-ACEA01D192E1}"/>
              </a:ext>
            </a:extLst>
          </p:cNvPr>
          <p:cNvSpPr>
            <a:spLocks noGrp="1"/>
          </p:cNvSpPr>
          <p:nvPr/>
        </p:nvSpPr>
        <p:spPr>
          <a:xfrm>
            <a:off x="7962900" y="2343150"/>
            <a:ext cx="2552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Transactions are not evenly distributed across roles.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59172463-007E-47D4-9DFD-A743B6A828F4}"/>
              </a:ext>
            </a:extLst>
          </p:cNvPr>
          <p:cNvSpPr>
            <a:spLocks noGrp="1"/>
          </p:cNvSpPr>
          <p:nvPr/>
        </p:nvSpPr>
        <p:spPr>
          <a:xfrm>
            <a:off x="7753350" y="30003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D9C9A9C8-5113-4D63-BCE6-66079A455EFB}"/>
              </a:ext>
            </a:extLst>
          </p:cNvPr>
          <p:cNvSpPr>
            <a:spLocks noGrp="1"/>
          </p:cNvSpPr>
          <p:nvPr/>
        </p:nvSpPr>
        <p:spPr>
          <a:xfrm>
            <a:off x="7962900" y="2933700"/>
            <a:ext cx="2552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Some roles interact strongly inside their own category.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198AC5AB-8B71-4034-B848-BC25DCD0582B}"/>
              </a:ext>
            </a:extLst>
          </p:cNvPr>
          <p:cNvSpPr>
            <a:spLocks noGrp="1"/>
          </p:cNvSpPr>
          <p:nvPr/>
        </p:nvSpPr>
        <p:spPr>
          <a:xfrm>
            <a:off x="7753350" y="35909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98C49D59-E792-4AE0-B551-2B3B265FAF2E}"/>
              </a:ext>
            </a:extLst>
          </p:cNvPr>
          <p:cNvSpPr>
            <a:spLocks noGrp="1"/>
          </p:cNvSpPr>
          <p:nvPr/>
        </p:nvSpPr>
        <p:spPr>
          <a:xfrm>
            <a:off x="7962900" y="3524250"/>
            <a:ext cx="2552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Hub-like and bridge-like roles help connect otherwise different wallet populations.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17E09F0B-B2A4-44D2-AF82-CA608355027C}"/>
              </a:ext>
            </a:extLst>
          </p:cNvPr>
          <p:cNvSpPr>
            <a:spLocks noGrp="1"/>
          </p:cNvSpPr>
          <p:nvPr/>
        </p:nvSpPr>
        <p:spPr>
          <a:xfrm>
            <a:off x="7753350" y="41814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6561B9A7-2C97-4C2C-9E7A-6B41013F3FAF}"/>
              </a:ext>
            </a:extLst>
          </p:cNvPr>
          <p:cNvSpPr>
            <a:spLocks noGrp="1"/>
          </p:cNvSpPr>
          <p:nvPr/>
        </p:nvSpPr>
        <p:spPr>
          <a:xfrm>
            <a:off x="7962900" y="4114800"/>
            <a:ext cx="2552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This supports the idea that roles are part of the network structure, not only feature-space clusters.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4650CF1C-6051-4DBA-9C80-A0E28E03F267}"/>
              </a:ext>
            </a:extLst>
          </p:cNvPr>
          <p:cNvSpPr>
            <a:spLocks noGrp="1"/>
          </p:cNvSpPr>
          <p:nvPr/>
        </p:nvSpPr>
        <p:spPr>
          <a:xfrm>
            <a:off x="11468100" y="63246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14925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ikdörtgen 15">
            <a:extLst>
              <a:ext uri="{FF2B5EF4-FFF2-40B4-BE49-F238E27FC236}">
                <a16:creationId xmlns:a16="http://schemas.microsoft.com/office/drawing/2014/main" id="{2CF1191F-9C98-43B6-A559-E72E6B8309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2D2789CF-0CAA-4BFC-B249-81935ECAB9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02059DD0-850B-4BB5-8EC4-80F73B66B7D1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TEMPORAL DYNAMICS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B1A0D3BE-D732-4DC2-BCCB-683445542280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rPr>
              <a:t>Wallet behaviour changes, but not randomly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3B863458-5255-4E7B-AAB8-7736AE43FBAC}"/>
              </a:ext>
            </a:extLst>
          </p:cNvPr>
          <p:cNvSpPr>
            <a:spLocks noGrp="1"/>
          </p:cNvSpPr>
          <p:nvPr/>
        </p:nvSpPr>
        <p:spPr>
          <a:xfrm>
            <a:off x="590550" y="1390650"/>
            <a:ext cx="5191125" cy="3943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0906" y="1600200"/>
            <a:ext cx="4230414" cy="3505200"/>
          </a:xfrm>
          <a:prstGeom prst="rect">
            <a:avLst/>
          </a:prstGeom>
        </p:spPr>
      </p:pic>
      <p:sp>
        <p:nvSpPr>
          <p:cNvPr id="7" name="Dikdörtgen 6">
            <a:extLst>
              <a:ext uri="{FF2B5EF4-FFF2-40B4-BE49-F238E27FC236}">
                <a16:creationId xmlns:a16="http://schemas.microsoft.com/office/drawing/2014/main" id="{8E9F69A2-B61D-4301-8CB2-551BCA032BD2}"/>
              </a:ext>
            </a:extLst>
          </p:cNvPr>
          <p:cNvSpPr>
            <a:spLocks noGrp="1"/>
          </p:cNvSpPr>
          <p:nvPr/>
        </p:nvSpPr>
        <p:spPr>
          <a:xfrm>
            <a:off x="6153150" y="1390650"/>
            <a:ext cx="5191125" cy="3943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43650" y="2107826"/>
            <a:ext cx="4810125" cy="2489947"/>
          </a:xfrm>
          <a:prstGeom prst="rect">
            <a:avLst/>
          </a:prstGeom>
        </p:spPr>
      </p:pic>
      <p:sp>
        <p:nvSpPr>
          <p:cNvPr id="9" name="Dikdörtgen 8">
            <a:extLst>
              <a:ext uri="{FF2B5EF4-FFF2-40B4-BE49-F238E27FC236}">
                <a16:creationId xmlns:a16="http://schemas.microsoft.com/office/drawing/2014/main" id="{38C85698-0FBE-4EEE-8854-90D9C4B039F8}"/>
              </a:ext>
            </a:extLst>
          </p:cNvPr>
          <p:cNvSpPr>
            <a:spLocks noGrp="1"/>
          </p:cNvSpPr>
          <p:nvPr/>
        </p:nvSpPr>
        <p:spPr>
          <a:xfrm>
            <a:off x="1104900" y="57245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A947DE10-7071-499C-AFD6-38405557D1C8}"/>
              </a:ext>
            </a:extLst>
          </p:cNvPr>
          <p:cNvSpPr>
            <a:spLocks noGrp="1"/>
          </p:cNvSpPr>
          <p:nvPr/>
        </p:nvSpPr>
        <p:spPr>
          <a:xfrm>
            <a:off x="1314450" y="5657850"/>
            <a:ext cx="9124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11 month-to-month transitions; 8,130,751 consecutive wallet-month pairs.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098427A3-7D2F-4389-96F6-F6429C1FBD03}"/>
              </a:ext>
            </a:extLst>
          </p:cNvPr>
          <p:cNvSpPr>
            <a:spLocks noGrp="1"/>
          </p:cNvSpPr>
          <p:nvPr/>
        </p:nvSpPr>
        <p:spPr>
          <a:xfrm>
            <a:off x="1104900" y="60293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E193D940-2456-4A23-A5E4-3A3BCA85D8C5}"/>
              </a:ext>
            </a:extLst>
          </p:cNvPr>
          <p:cNvSpPr>
            <a:spLocks noGrp="1"/>
          </p:cNvSpPr>
          <p:nvPr/>
        </p:nvSpPr>
        <p:spPr>
          <a:xfrm>
            <a:off x="1314450" y="5962650"/>
            <a:ext cx="9124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Mean monthly self-transition rate: 0.4538, with monthly values from 0.4324 to 0.4802.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7693C3AB-64CE-4534-BF20-7ED441C7F340}"/>
              </a:ext>
            </a:extLst>
          </p:cNvPr>
          <p:cNvSpPr>
            <a:spLocks noGrp="1"/>
          </p:cNvSpPr>
          <p:nvPr/>
        </p:nvSpPr>
        <p:spPr>
          <a:xfrm>
            <a:off x="1104900" y="63341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B204B82E-9BCE-45B1-AE31-5B4F4D11E104}"/>
              </a:ext>
            </a:extLst>
          </p:cNvPr>
          <p:cNvSpPr>
            <a:spLocks noGrp="1"/>
          </p:cNvSpPr>
          <p:nvPr/>
        </p:nvSpPr>
        <p:spPr>
          <a:xfrm>
            <a:off x="1314450" y="6267450"/>
            <a:ext cx="9124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C3 was the most stable state; C5 was the least stable.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60BF8C78-BE7B-4B5B-A8BB-EE1C5FEF287F}"/>
              </a:ext>
            </a:extLst>
          </p:cNvPr>
          <p:cNvSpPr>
            <a:spLocks noGrp="1"/>
          </p:cNvSpPr>
          <p:nvPr/>
        </p:nvSpPr>
        <p:spPr>
          <a:xfrm>
            <a:off x="11468100" y="63246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8193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Dikdörtgen 30">
            <a:extLst>
              <a:ext uri="{FF2B5EF4-FFF2-40B4-BE49-F238E27FC236}">
                <a16:creationId xmlns:a16="http://schemas.microsoft.com/office/drawing/2014/main" id="{D8D2DB55-48AB-41C8-ADBB-D748596A9C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4C75DF77-145A-44D9-B683-E80D890457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51E411C5-079D-4258-B711-D0B994AA59F6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FINDINGS MAP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5C87D004-3F26-43C9-A791-B7ABFB60CEFD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rPr>
              <a:t>What evidence supports the six-role result?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15ABD554-F685-4C1B-9F97-22DD12767D51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314325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E08FE197-4CAB-4BD3-9634-F6D83BA39425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47625" cy="17145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DB67F8FD-51AF-43EC-AB45-C1AC628B63DD}"/>
              </a:ext>
            </a:extLst>
          </p:cNvPr>
          <p:cNvSpPr>
            <a:spLocks noGrp="1"/>
          </p:cNvSpPr>
          <p:nvPr/>
        </p:nvSpPr>
        <p:spPr>
          <a:xfrm>
            <a:off x="876300" y="1600200"/>
            <a:ext cx="2838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Feature evidence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7C1CA196-6FD4-4395-9A0B-12A8A82026B7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283845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The heatmap showed distinct normalized behavioural profiles. This gave each cluster an interpretable role description instead of only a numeric label.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865E2EF2-5506-47EE-B553-FA8565C23582}"/>
              </a:ext>
            </a:extLst>
          </p:cNvPr>
          <p:cNvSpPr>
            <a:spLocks noGrp="1"/>
          </p:cNvSpPr>
          <p:nvPr/>
        </p:nvSpPr>
        <p:spPr>
          <a:xfrm>
            <a:off x="4514850" y="1466850"/>
            <a:ext cx="314325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FFF4631F-C119-4424-BB74-24CBECA21B44}"/>
              </a:ext>
            </a:extLst>
          </p:cNvPr>
          <p:cNvSpPr>
            <a:spLocks noGrp="1"/>
          </p:cNvSpPr>
          <p:nvPr/>
        </p:nvSpPr>
        <p:spPr>
          <a:xfrm>
            <a:off x="4514850" y="1466850"/>
            <a:ext cx="47625" cy="1714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16F2EAC2-8C15-4815-BFD7-DD21C81B048A}"/>
              </a:ext>
            </a:extLst>
          </p:cNvPr>
          <p:cNvSpPr>
            <a:spLocks noGrp="1"/>
          </p:cNvSpPr>
          <p:nvPr/>
        </p:nvSpPr>
        <p:spPr>
          <a:xfrm>
            <a:off x="4686300" y="1600200"/>
            <a:ext cx="2838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Statistical evidence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688832BC-D581-4D73-B95E-424B0CD2C077}"/>
              </a:ext>
            </a:extLst>
          </p:cNvPr>
          <p:cNvSpPr>
            <a:spLocks noGrp="1"/>
          </p:cNvSpPr>
          <p:nvPr/>
        </p:nvSpPr>
        <p:spPr>
          <a:xfrm>
            <a:off x="4686300" y="1924050"/>
            <a:ext cx="283845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Non-parametric tests and Cliff's delta showed that major cluster differences were not only statistically significant, but also practically large.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E0FCFF5D-B357-4D89-AC03-F2815DE7EBDF}"/>
              </a:ext>
            </a:extLst>
          </p:cNvPr>
          <p:cNvSpPr>
            <a:spLocks noGrp="1"/>
          </p:cNvSpPr>
          <p:nvPr/>
        </p:nvSpPr>
        <p:spPr>
          <a:xfrm>
            <a:off x="8324850" y="1466850"/>
            <a:ext cx="314325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063C62CD-DB24-4E1C-9227-E24B1B2F69B5}"/>
              </a:ext>
            </a:extLst>
          </p:cNvPr>
          <p:cNvSpPr>
            <a:spLocks noGrp="1"/>
          </p:cNvSpPr>
          <p:nvPr/>
        </p:nvSpPr>
        <p:spPr>
          <a:xfrm>
            <a:off x="8324850" y="1466850"/>
            <a:ext cx="47625" cy="17145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9C73C083-6F7F-4E0B-9D58-E978558A8C0C}"/>
              </a:ext>
            </a:extLst>
          </p:cNvPr>
          <p:cNvSpPr>
            <a:spLocks noGrp="1"/>
          </p:cNvSpPr>
          <p:nvPr/>
        </p:nvSpPr>
        <p:spPr>
          <a:xfrm>
            <a:off x="8496300" y="1600200"/>
            <a:ext cx="2838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Network evidence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CFC8C6F4-FB4F-4312-8F5E-EB5DC4BBBE45}"/>
              </a:ext>
            </a:extLst>
          </p:cNvPr>
          <p:cNvSpPr>
            <a:spLocks noGrp="1"/>
          </p:cNvSpPr>
          <p:nvPr/>
        </p:nvSpPr>
        <p:spPr>
          <a:xfrm>
            <a:off x="8496300" y="1924050"/>
            <a:ext cx="283845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The same labels produced high modularity, high assortativity, and much stronger same-role interaction than random labels.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FD0B0872-DAE5-4EF7-B344-FF9322B2B2B5}"/>
              </a:ext>
            </a:extLst>
          </p:cNvPr>
          <p:cNvSpPr>
            <a:spLocks noGrp="1"/>
          </p:cNvSpPr>
          <p:nvPr/>
        </p:nvSpPr>
        <p:spPr>
          <a:xfrm>
            <a:off x="704850" y="3676650"/>
            <a:ext cx="314325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887CD7A0-3E8F-45F2-B9BF-581308F10196}"/>
              </a:ext>
            </a:extLst>
          </p:cNvPr>
          <p:cNvSpPr>
            <a:spLocks noGrp="1"/>
          </p:cNvSpPr>
          <p:nvPr/>
        </p:nvSpPr>
        <p:spPr>
          <a:xfrm>
            <a:off x="704850" y="3676650"/>
            <a:ext cx="47625" cy="1714500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4BA2152E-10C6-4AE4-9C98-4E39F3A65748}"/>
              </a:ext>
            </a:extLst>
          </p:cNvPr>
          <p:cNvSpPr>
            <a:spLocks noGrp="1"/>
          </p:cNvSpPr>
          <p:nvPr/>
        </p:nvSpPr>
        <p:spPr>
          <a:xfrm>
            <a:off x="876300" y="3810000"/>
            <a:ext cx="2838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Temporal evidence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F2EDD9CF-AE86-4CB8-8C25-6729AFB5F498}"/>
              </a:ext>
            </a:extLst>
          </p:cNvPr>
          <p:cNvSpPr>
            <a:spLocks noGrp="1"/>
          </p:cNvSpPr>
          <p:nvPr/>
        </p:nvSpPr>
        <p:spPr>
          <a:xfrm>
            <a:off x="876300" y="4133850"/>
            <a:ext cx="283845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Monthly transition matrices showed moderate retention, common transition pathways, and state-specific differences in persistence.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7F72C018-F4A7-422F-A648-F2E3467ACD63}"/>
              </a:ext>
            </a:extLst>
          </p:cNvPr>
          <p:cNvSpPr>
            <a:spLocks noGrp="1"/>
          </p:cNvSpPr>
          <p:nvPr/>
        </p:nvSpPr>
        <p:spPr>
          <a:xfrm>
            <a:off x="4514850" y="3676650"/>
            <a:ext cx="314325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B1FBB430-E668-4542-BEBD-1FC99F4E5541}"/>
              </a:ext>
            </a:extLst>
          </p:cNvPr>
          <p:cNvSpPr>
            <a:spLocks noGrp="1"/>
          </p:cNvSpPr>
          <p:nvPr/>
        </p:nvSpPr>
        <p:spPr>
          <a:xfrm>
            <a:off x="4514850" y="3676650"/>
            <a:ext cx="47625" cy="1714500"/>
          </a:xfrm>
          <a:prstGeom prst="rect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507AAD27-C70D-485F-B3D0-49AF578593B7}"/>
              </a:ext>
            </a:extLst>
          </p:cNvPr>
          <p:cNvSpPr>
            <a:spLocks noGrp="1"/>
          </p:cNvSpPr>
          <p:nvPr/>
        </p:nvSpPr>
        <p:spPr>
          <a:xfrm>
            <a:off x="4686300" y="3810000"/>
            <a:ext cx="2838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Robustness evidence</a:t>
            </a: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BDC08E3D-A140-4DD4-98E1-AC612C05BC8E}"/>
              </a:ext>
            </a:extLst>
          </p:cNvPr>
          <p:cNvSpPr>
            <a:spLocks noGrp="1"/>
          </p:cNvSpPr>
          <p:nvPr/>
        </p:nvSpPr>
        <p:spPr>
          <a:xfrm>
            <a:off x="4686300" y="4133850"/>
            <a:ext cx="283845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Additional checks tested correspondence across analysis variants, feature-set redundancy, permutation significance, and observation density.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53B69B0B-9CF9-4969-9798-F6019EC029FB}"/>
              </a:ext>
            </a:extLst>
          </p:cNvPr>
          <p:cNvSpPr>
            <a:spLocks noGrp="1"/>
          </p:cNvSpPr>
          <p:nvPr/>
        </p:nvSpPr>
        <p:spPr>
          <a:xfrm>
            <a:off x="8324850" y="3676650"/>
            <a:ext cx="314325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06C7A044-2921-40BF-95DB-3DF640CCBCE9}"/>
              </a:ext>
            </a:extLst>
          </p:cNvPr>
          <p:cNvSpPr>
            <a:spLocks noGrp="1"/>
          </p:cNvSpPr>
          <p:nvPr/>
        </p:nvSpPr>
        <p:spPr>
          <a:xfrm>
            <a:off x="8324850" y="3676650"/>
            <a:ext cx="47625" cy="17145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62BD08E5-7927-47FE-9EE2-8727A71C2A21}"/>
              </a:ext>
            </a:extLst>
          </p:cNvPr>
          <p:cNvSpPr>
            <a:spLocks noGrp="1"/>
          </p:cNvSpPr>
          <p:nvPr/>
        </p:nvSpPr>
        <p:spPr>
          <a:xfrm>
            <a:off x="8496300" y="3810000"/>
            <a:ext cx="2838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Interpretation evidence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55A55024-731D-4C81-B138-2CD999FC5C11}"/>
              </a:ext>
            </a:extLst>
          </p:cNvPr>
          <p:cNvSpPr>
            <a:spLocks noGrp="1"/>
          </p:cNvSpPr>
          <p:nvPr/>
        </p:nvSpPr>
        <p:spPr>
          <a:xfrm>
            <a:off x="8496300" y="4133850"/>
            <a:ext cx="283845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Internal subcluster analysis suggested that the six-role solution is a useful top-level vocabulary, with finer patterns inside some roles.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1A1F5974-9E50-4097-86C4-1849D1C563FD}"/>
              </a:ext>
            </a:extLst>
          </p:cNvPr>
          <p:cNvSpPr>
            <a:spLocks noGrp="1"/>
          </p:cNvSpPr>
          <p:nvPr/>
        </p:nvSpPr>
        <p:spPr>
          <a:xfrm>
            <a:off x="1504950" y="5848350"/>
            <a:ext cx="8858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This is the central logic of the project: discover roles first, then test them from several independent angles.</a:t>
            </a:r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A5A709EA-5E54-46A8-97E9-C12019B1E5BD}"/>
              </a:ext>
            </a:extLst>
          </p:cNvPr>
          <p:cNvSpPr>
            <a:spLocks noGrp="1"/>
          </p:cNvSpPr>
          <p:nvPr/>
        </p:nvSpPr>
        <p:spPr>
          <a:xfrm>
            <a:off x="11468100" y="63246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81941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>
            <a:extLst>
              <a:ext uri="{FF2B5EF4-FFF2-40B4-BE49-F238E27FC236}">
                <a16:creationId xmlns:a16="http://schemas.microsoft.com/office/drawing/2014/main" id="{B8E80980-4389-48AC-801F-001F364061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0DEED8D9-9CC9-4474-8E9C-C0252DFB36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A2C19E90-72C3-4ED9-A706-D47BBAD8D75F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MODEL CHOICE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F6CE47BA-F274-4F8A-AB57-C7264B257A19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rPr>
              <a:t>Why the six-cluster solution was kept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1AE28045-346C-4B3E-AE55-9D75980845E7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4762500" cy="3581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3302FCF8-BE8B-4960-8E94-A8B59088F731}"/>
              </a:ext>
            </a:extLst>
          </p:cNvPr>
          <p:cNvSpPr>
            <a:spLocks noGrp="1"/>
          </p:cNvSpPr>
          <p:nvPr/>
        </p:nvSpPr>
        <p:spPr>
          <a:xfrm>
            <a:off x="1009650" y="17526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Why KMeans6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2EE0A0AA-F7DB-4F4D-B567-7320BF4526D0}"/>
              </a:ext>
            </a:extLst>
          </p:cNvPr>
          <p:cNvSpPr>
            <a:spLocks noGrp="1"/>
          </p:cNvSpPr>
          <p:nvPr/>
        </p:nvSpPr>
        <p:spPr>
          <a:xfrm>
            <a:off x="1123950" y="23526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DCF568BE-2D00-4A73-BA31-2BA1F998E01B}"/>
              </a:ext>
            </a:extLst>
          </p:cNvPr>
          <p:cNvSpPr>
            <a:spLocks noGrp="1"/>
          </p:cNvSpPr>
          <p:nvPr/>
        </p:nvSpPr>
        <p:spPr>
          <a:xfrm>
            <a:off x="1333500" y="2286000"/>
            <a:ext cx="3219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It produced roles that were understandable from the feature profiles.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87A3EDB7-3DFD-47CF-865A-4089DF485445}"/>
              </a:ext>
            </a:extLst>
          </p:cNvPr>
          <p:cNvSpPr>
            <a:spLocks noGrp="1"/>
          </p:cNvSpPr>
          <p:nvPr/>
        </p:nvSpPr>
        <p:spPr>
          <a:xfrm>
            <a:off x="1123950" y="29051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F9CBA7AD-F2C0-4448-9818-E57A5BB3905C}"/>
              </a:ext>
            </a:extLst>
          </p:cNvPr>
          <p:cNvSpPr>
            <a:spLocks noGrp="1"/>
          </p:cNvSpPr>
          <p:nvPr/>
        </p:nvSpPr>
        <p:spPr>
          <a:xfrm>
            <a:off x="1333500" y="2838450"/>
            <a:ext cx="3219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It aligned well with the transaction-network validation results.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F489B770-909E-4BF2-ACC5-1223D98659D5}"/>
              </a:ext>
            </a:extLst>
          </p:cNvPr>
          <p:cNvSpPr>
            <a:spLocks noGrp="1"/>
          </p:cNvSpPr>
          <p:nvPr/>
        </p:nvSpPr>
        <p:spPr>
          <a:xfrm>
            <a:off x="1123950" y="34575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E7712172-8A1D-42BE-80FA-7F097EDB8756}"/>
              </a:ext>
            </a:extLst>
          </p:cNvPr>
          <p:cNvSpPr>
            <a:spLocks noGrp="1"/>
          </p:cNvSpPr>
          <p:nvPr/>
        </p:nvSpPr>
        <p:spPr>
          <a:xfrm>
            <a:off x="1333500" y="3390900"/>
            <a:ext cx="3219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It gave a practical top-level role vocabulary for millions of wallets.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AD890908-85C8-451D-A1FC-1AEF42138FBD}"/>
              </a:ext>
            </a:extLst>
          </p:cNvPr>
          <p:cNvSpPr>
            <a:spLocks noGrp="1"/>
          </p:cNvSpPr>
          <p:nvPr/>
        </p:nvSpPr>
        <p:spPr>
          <a:xfrm>
            <a:off x="1123950" y="40100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30475401-8AA2-492D-A9E9-D2F6CDC6471E}"/>
              </a:ext>
            </a:extLst>
          </p:cNvPr>
          <p:cNvSpPr>
            <a:spLocks noGrp="1"/>
          </p:cNvSpPr>
          <p:nvPr/>
        </p:nvSpPr>
        <p:spPr>
          <a:xfrm>
            <a:off x="1333500" y="3943350"/>
            <a:ext cx="3219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It connected naturally to the original simulator goal: realistic agent types.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BCF07407-019D-46C2-BC1E-A5F3B4009151}"/>
              </a:ext>
            </a:extLst>
          </p:cNvPr>
          <p:cNvSpPr>
            <a:spLocks noGrp="1"/>
          </p:cNvSpPr>
          <p:nvPr/>
        </p:nvSpPr>
        <p:spPr>
          <a:xfrm>
            <a:off x="6248400" y="1428750"/>
            <a:ext cx="4762500" cy="3581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C46BF90B-A739-47AB-84D8-76AAC3BDE949}"/>
              </a:ext>
            </a:extLst>
          </p:cNvPr>
          <p:cNvSpPr>
            <a:spLocks noGrp="1"/>
          </p:cNvSpPr>
          <p:nvPr/>
        </p:nvSpPr>
        <p:spPr>
          <a:xfrm>
            <a:off x="6534150" y="17526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What we checked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0D7976D8-905F-4479-99D1-6EBB758FCD66}"/>
              </a:ext>
            </a:extLst>
          </p:cNvPr>
          <p:cNvSpPr>
            <a:spLocks noGrp="1"/>
          </p:cNvSpPr>
          <p:nvPr/>
        </p:nvSpPr>
        <p:spPr>
          <a:xfrm>
            <a:off x="6648450" y="2352675"/>
            <a:ext cx="76200" cy="76200"/>
          </a:xfrm>
          <a:prstGeom prst="rect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70123C1A-5B19-404C-9A01-B29E423F100A}"/>
              </a:ext>
            </a:extLst>
          </p:cNvPr>
          <p:cNvSpPr>
            <a:spLocks noGrp="1"/>
          </p:cNvSpPr>
          <p:nvPr/>
        </p:nvSpPr>
        <p:spPr>
          <a:xfrm>
            <a:off x="6858000" y="2286000"/>
            <a:ext cx="32194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Alternative-k diagnostics suggested that more clusters can reveal additional fine-grained structure.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B487156E-7A4B-4C93-84F4-99601920884D}"/>
              </a:ext>
            </a:extLst>
          </p:cNvPr>
          <p:cNvSpPr>
            <a:spLocks noGrp="1"/>
          </p:cNvSpPr>
          <p:nvPr/>
        </p:nvSpPr>
        <p:spPr>
          <a:xfrm>
            <a:off x="6648450" y="3038475"/>
            <a:ext cx="76200" cy="76200"/>
          </a:xfrm>
          <a:prstGeom prst="rect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1FACE92C-F680-4B94-9704-934DB4613048}"/>
              </a:ext>
            </a:extLst>
          </p:cNvPr>
          <p:cNvSpPr>
            <a:spLocks noGrp="1"/>
          </p:cNvSpPr>
          <p:nvPr/>
        </p:nvSpPr>
        <p:spPr>
          <a:xfrm>
            <a:off x="6858000" y="2971800"/>
            <a:ext cx="32194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Internal subcluster tests showed that some main roles contain meaningful subtypes.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FED87A33-3C9C-43F9-961B-296719B70964}"/>
              </a:ext>
            </a:extLst>
          </p:cNvPr>
          <p:cNvSpPr>
            <a:spLocks noGrp="1"/>
          </p:cNvSpPr>
          <p:nvPr/>
        </p:nvSpPr>
        <p:spPr>
          <a:xfrm>
            <a:off x="6648450" y="3724275"/>
            <a:ext cx="76200" cy="76200"/>
          </a:xfrm>
          <a:prstGeom prst="rect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DB29062A-0989-484E-8407-151931D68F1F}"/>
              </a:ext>
            </a:extLst>
          </p:cNvPr>
          <p:cNvSpPr>
            <a:spLocks noGrp="1"/>
          </p:cNvSpPr>
          <p:nvPr/>
        </p:nvSpPr>
        <p:spPr>
          <a:xfrm>
            <a:off x="6858000" y="3657600"/>
            <a:ext cx="32194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Because the goal was an interpretable role layer, we treated KMeans6 as the main segmentation and subclusters as secondary detail.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7F13CE50-34CD-4493-B10A-DEA3AB6F948C}"/>
              </a:ext>
            </a:extLst>
          </p:cNvPr>
          <p:cNvSpPr>
            <a:spLocks noGrp="1"/>
          </p:cNvSpPr>
          <p:nvPr/>
        </p:nvSpPr>
        <p:spPr>
          <a:xfrm>
            <a:off x="1428750" y="5581650"/>
            <a:ext cx="8858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Finding: six clusters are not the only possible partition, but they are a defensible high-level behavioural layer.</a:t>
            </a: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8C99F890-72CA-47E3-A741-86D8435317EA}"/>
              </a:ext>
            </a:extLst>
          </p:cNvPr>
          <p:cNvSpPr>
            <a:spLocks noGrp="1"/>
          </p:cNvSpPr>
          <p:nvPr/>
        </p:nvSpPr>
        <p:spPr>
          <a:xfrm>
            <a:off x="11468100" y="63246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25763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>
            <a:extLst>
              <a:ext uri="{FF2B5EF4-FFF2-40B4-BE49-F238E27FC236}">
                <a16:creationId xmlns:a16="http://schemas.microsoft.com/office/drawing/2014/main" id="{68C3D4FF-9007-4C29-BEB2-AEC06DEF71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1B370FC6-3DAE-436E-A2BE-DB1BB03DFA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6AEA4554-1CCE-4D28-95DE-A8CFD9EC5564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STATISTICAL VALIDATION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CA7AED59-917C-4F30-9775-F3589B3282D3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rPr>
              <a:t>Are the clusters actually separated?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D75AB915-3822-4334-8F9A-0DD2CF54CF26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4762500" cy="350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3E0AD0A9-D172-4CD8-960B-4580D0DF63F2}"/>
              </a:ext>
            </a:extLst>
          </p:cNvPr>
          <p:cNvSpPr>
            <a:spLocks noGrp="1"/>
          </p:cNvSpPr>
          <p:nvPr/>
        </p:nvSpPr>
        <p:spPr>
          <a:xfrm>
            <a:off x="990600" y="17526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Tests used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F5C5F4BD-8920-4489-A73C-7EA2B7946DBD}"/>
              </a:ext>
            </a:extLst>
          </p:cNvPr>
          <p:cNvSpPr>
            <a:spLocks noGrp="1"/>
          </p:cNvSpPr>
          <p:nvPr/>
        </p:nvSpPr>
        <p:spPr>
          <a:xfrm>
            <a:off x="1104900" y="23717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C403EF99-591B-46ED-BF73-832D53AD5AA2}"/>
              </a:ext>
            </a:extLst>
          </p:cNvPr>
          <p:cNvSpPr>
            <a:spLocks noGrp="1"/>
          </p:cNvSpPr>
          <p:nvPr/>
        </p:nvSpPr>
        <p:spPr>
          <a:xfrm>
            <a:off x="1314450" y="2305050"/>
            <a:ext cx="33147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Kruskal-Wallis tests to check whether feature distributions differ across clusters.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B8A05EE8-DD23-4297-9604-79B78F503436}"/>
              </a:ext>
            </a:extLst>
          </p:cNvPr>
          <p:cNvSpPr>
            <a:spLocks noGrp="1"/>
          </p:cNvSpPr>
          <p:nvPr/>
        </p:nvSpPr>
        <p:spPr>
          <a:xfrm>
            <a:off x="1104900" y="30575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87555691-DED0-4E09-A886-B1971932C486}"/>
              </a:ext>
            </a:extLst>
          </p:cNvPr>
          <p:cNvSpPr>
            <a:spLocks noGrp="1"/>
          </p:cNvSpPr>
          <p:nvPr/>
        </p:nvSpPr>
        <p:spPr>
          <a:xfrm>
            <a:off x="1314450" y="2990850"/>
            <a:ext cx="33147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Mann-Whitney pairwise comparisons for cluster-to-cluster differences.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A0D14D5F-D58A-4430-8290-0AA2951890CE}"/>
              </a:ext>
            </a:extLst>
          </p:cNvPr>
          <p:cNvSpPr>
            <a:spLocks noGrp="1"/>
          </p:cNvSpPr>
          <p:nvPr/>
        </p:nvSpPr>
        <p:spPr>
          <a:xfrm>
            <a:off x="1104900" y="37433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FD279FEE-50AB-4AB4-BF61-B5ED4F32011C}"/>
              </a:ext>
            </a:extLst>
          </p:cNvPr>
          <p:cNvSpPr>
            <a:spLocks noGrp="1"/>
          </p:cNvSpPr>
          <p:nvPr/>
        </p:nvSpPr>
        <p:spPr>
          <a:xfrm>
            <a:off x="1314450" y="3676650"/>
            <a:ext cx="33147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Cliff's delta to measure practical effect size, not only statistical significance.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5D6300FD-5894-4971-84DC-FEA58D50DD4E}"/>
              </a:ext>
            </a:extLst>
          </p:cNvPr>
          <p:cNvSpPr>
            <a:spLocks noGrp="1"/>
          </p:cNvSpPr>
          <p:nvPr/>
        </p:nvSpPr>
        <p:spPr>
          <a:xfrm>
            <a:off x="6191250" y="1428750"/>
            <a:ext cx="4762500" cy="350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03E58891-406E-4836-B178-154AE28F3AC8}"/>
              </a:ext>
            </a:extLst>
          </p:cNvPr>
          <p:cNvSpPr>
            <a:spLocks noGrp="1"/>
          </p:cNvSpPr>
          <p:nvPr/>
        </p:nvSpPr>
        <p:spPr>
          <a:xfrm>
            <a:off x="6477000" y="17526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Main finding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D5DEC413-2887-4635-8890-122FC3FDECD6}"/>
              </a:ext>
            </a:extLst>
          </p:cNvPr>
          <p:cNvSpPr>
            <a:spLocks noGrp="1"/>
          </p:cNvSpPr>
          <p:nvPr/>
        </p:nvSpPr>
        <p:spPr>
          <a:xfrm>
            <a:off x="6477000" y="2266950"/>
            <a:ext cx="37147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The strongest separated pair was C1 versus C2 across 33 features, with mean absolute Cliff's delta around 0.741 and maximum around 0.990.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50DE12BB-1F51-4866-94C8-8D9A2EFF1EC0}"/>
              </a:ext>
            </a:extLst>
          </p:cNvPr>
          <p:cNvSpPr>
            <a:spLocks noGrp="1"/>
          </p:cNvSpPr>
          <p:nvPr/>
        </p:nvSpPr>
        <p:spPr>
          <a:xfrm>
            <a:off x="6477000" y="3733800"/>
            <a:ext cx="3714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This means the clusters were not just numerically different; several differences were large enough to be behaviourally meaningful.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D9C121BE-CE19-4AD4-9314-47C7C799C5DA}"/>
              </a:ext>
            </a:extLst>
          </p:cNvPr>
          <p:cNvSpPr>
            <a:spLocks noGrp="1"/>
          </p:cNvSpPr>
          <p:nvPr/>
        </p:nvSpPr>
        <p:spPr>
          <a:xfrm>
            <a:off x="1428750" y="5543550"/>
            <a:ext cx="8858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Methodological implication: we used both significance and effect size so the claims do not depend only on large sample size.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37F57C8F-1EBA-4A26-A333-441F1E099813}"/>
              </a:ext>
            </a:extLst>
          </p:cNvPr>
          <p:cNvSpPr>
            <a:spLocks noGrp="1"/>
          </p:cNvSpPr>
          <p:nvPr/>
        </p:nvSpPr>
        <p:spPr>
          <a:xfrm>
            <a:off x="11468100" y="63246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47019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ikdörtgen 22">
            <a:extLst>
              <a:ext uri="{FF2B5EF4-FFF2-40B4-BE49-F238E27FC236}">
                <a16:creationId xmlns:a16="http://schemas.microsoft.com/office/drawing/2014/main" id="{D8A6A118-3D35-4498-9486-12FD948EC7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6F3AB5EF-EAE2-44F3-A075-4EFFEB28F0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6548F8B2-5974-43FF-8BDF-A7B856C6AB68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GRAPH PROOF DETAILS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323D4262-8DFC-4567-978D-64C3B3FFA23C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rPr>
              <a:t>Checking feature clusters against communities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1A0FA33A-CDEC-4555-90E7-E958883F97B9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3238500" cy="375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619402E4-9DCF-470C-9574-9E8D61A8E227}"/>
              </a:ext>
            </a:extLst>
          </p:cNvPr>
          <p:cNvSpPr>
            <a:spLocks noGrp="1"/>
          </p:cNvSpPr>
          <p:nvPr/>
        </p:nvSpPr>
        <p:spPr>
          <a:xfrm>
            <a:off x="952500" y="17526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What we built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726B2F2F-A578-4FF1-BDA4-54152DDC5AD2}"/>
              </a:ext>
            </a:extLst>
          </p:cNvPr>
          <p:cNvSpPr>
            <a:spLocks noGrp="1"/>
          </p:cNvSpPr>
          <p:nvPr/>
        </p:nvSpPr>
        <p:spPr>
          <a:xfrm>
            <a:off x="1047750" y="23907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136C1ED1-BA60-4EF3-9953-4A6BB28FC029}"/>
              </a:ext>
            </a:extLst>
          </p:cNvPr>
          <p:cNvSpPr>
            <a:spLocks noGrp="1"/>
          </p:cNvSpPr>
          <p:nvPr/>
        </p:nvSpPr>
        <p:spPr>
          <a:xfrm>
            <a:off x="1257300" y="2324100"/>
            <a:ext cx="21717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A transaction network where nodes are wallets and edges represent observed transfers.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EFBA6E01-FC63-444B-A743-D68FD879FD21}"/>
              </a:ext>
            </a:extLst>
          </p:cNvPr>
          <p:cNvSpPr>
            <a:spLocks noGrp="1"/>
          </p:cNvSpPr>
          <p:nvPr/>
        </p:nvSpPr>
        <p:spPr>
          <a:xfrm>
            <a:off x="1047750" y="30765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81692523-021A-4C05-A817-09D58967756E}"/>
              </a:ext>
            </a:extLst>
          </p:cNvPr>
          <p:cNvSpPr>
            <a:spLocks noGrp="1"/>
          </p:cNvSpPr>
          <p:nvPr/>
        </p:nvSpPr>
        <p:spPr>
          <a:xfrm>
            <a:off x="1257300" y="3009900"/>
            <a:ext cx="21717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A role-level network summary to study how clusters connect.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746D734D-6EE9-4E85-865E-C97AD5EEEDAD}"/>
              </a:ext>
            </a:extLst>
          </p:cNvPr>
          <p:cNvSpPr>
            <a:spLocks noGrp="1"/>
          </p:cNvSpPr>
          <p:nvPr/>
        </p:nvSpPr>
        <p:spPr>
          <a:xfrm>
            <a:off x="1047750" y="37623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15579149-D534-49D7-A8D6-58E0BB179924}"/>
              </a:ext>
            </a:extLst>
          </p:cNvPr>
          <p:cNvSpPr>
            <a:spLocks noGrp="1"/>
          </p:cNvSpPr>
          <p:nvPr/>
        </p:nvSpPr>
        <p:spPr>
          <a:xfrm>
            <a:off x="1257300" y="3695700"/>
            <a:ext cx="21717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Random-label baselines to test whether the same pattern appears by chance.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516BF76E-0CB6-4CC4-AAB1-59A4F6A480EE}"/>
              </a:ext>
            </a:extLst>
          </p:cNvPr>
          <p:cNvSpPr>
            <a:spLocks noGrp="1"/>
          </p:cNvSpPr>
          <p:nvPr/>
        </p:nvSpPr>
        <p:spPr>
          <a:xfrm>
            <a:off x="4476750" y="1428750"/>
            <a:ext cx="2857500" cy="375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944C07D8-61A9-4E9C-ADEE-B6F140718378}"/>
              </a:ext>
            </a:extLst>
          </p:cNvPr>
          <p:cNvSpPr>
            <a:spLocks noGrp="1"/>
          </p:cNvSpPr>
          <p:nvPr/>
        </p:nvSpPr>
        <p:spPr>
          <a:xfrm>
            <a:off x="4743450" y="17526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Network metrics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DEC026DE-867A-4D31-87F5-215C0A8BA052}"/>
              </a:ext>
            </a:extLst>
          </p:cNvPr>
          <p:cNvSpPr>
            <a:spLocks noGrp="1"/>
          </p:cNvSpPr>
          <p:nvPr/>
        </p:nvSpPr>
        <p:spPr>
          <a:xfrm>
            <a:off x="4762500" y="2343150"/>
            <a:ext cx="21907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23,755 nodes</a:t>
            </a:r>
          </a:p>
          <a:p>
            <a:pPr algn="l">
              <a:defRPr sz="187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80,596 edges</a:t>
            </a:r>
          </a:p>
          <a:p>
            <a:pPr algn="l">
              <a:defRPr sz="187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0.777 modularity</a:t>
            </a:r>
          </a:p>
          <a:p>
            <a:pPr algn="l">
              <a:defRPr sz="187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0.932 assortativity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F05912A6-F3C2-462A-BECA-393742F19B48}"/>
              </a:ext>
            </a:extLst>
          </p:cNvPr>
          <p:cNvSpPr>
            <a:spLocks noGrp="1"/>
          </p:cNvSpPr>
          <p:nvPr/>
        </p:nvSpPr>
        <p:spPr>
          <a:xfrm>
            <a:off x="4762500" y="3905250"/>
            <a:ext cx="2095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High modularity means clear communities. High assortativity means wallets tend to connect to wallets with similar roles.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B12D6C0E-EB55-497A-9AEF-6BC02DDA7A91}"/>
              </a:ext>
            </a:extLst>
          </p:cNvPr>
          <p:cNvSpPr>
            <a:spLocks noGrp="1"/>
          </p:cNvSpPr>
          <p:nvPr/>
        </p:nvSpPr>
        <p:spPr>
          <a:xfrm>
            <a:off x="7886700" y="1428750"/>
            <a:ext cx="3238500" cy="375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0283016E-0BE3-48F2-9191-3B0E09DD5C7B}"/>
              </a:ext>
            </a:extLst>
          </p:cNvPr>
          <p:cNvSpPr>
            <a:spLocks noGrp="1"/>
          </p:cNvSpPr>
          <p:nvPr/>
        </p:nvSpPr>
        <p:spPr>
          <a:xfrm>
            <a:off x="8153400" y="17526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Random-label result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4D9B8F2E-619F-4F7D-A202-C34E5319E5A6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23812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The real labels produced much stronger same-role structure than random labels.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9ABF8F92-8057-45FC-84A7-186F3D0C09AD}"/>
              </a:ext>
            </a:extLst>
          </p:cNvPr>
          <p:cNvSpPr>
            <a:spLocks noGrp="1"/>
          </p:cNvSpPr>
          <p:nvPr/>
        </p:nvSpPr>
        <p:spPr>
          <a:xfrm>
            <a:off x="8153400" y="3276600"/>
            <a:ext cx="228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Same-role structure was about 5.66 times stronger than the random comparison, with p = 0.000999.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3A2ED758-2AD7-45BC-9EE5-9455D4004B1A}"/>
              </a:ext>
            </a:extLst>
          </p:cNvPr>
          <p:cNvSpPr>
            <a:spLocks noGrp="1"/>
          </p:cNvSpPr>
          <p:nvPr/>
        </p:nvSpPr>
        <p:spPr>
          <a:xfrm>
            <a:off x="1428750" y="5657850"/>
            <a:ext cx="8858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Finding: the behavioural roles are visible in the transaction graph, not only in the engineered feature table.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391ED8D6-99FC-4802-9EC0-B7C5A2A75ECD}"/>
              </a:ext>
            </a:extLst>
          </p:cNvPr>
          <p:cNvSpPr>
            <a:spLocks noGrp="1"/>
          </p:cNvSpPr>
          <p:nvPr/>
        </p:nvSpPr>
        <p:spPr>
          <a:xfrm>
            <a:off x="11468100" y="63246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12212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>
            <a:extLst>
              <a:ext uri="{FF2B5EF4-FFF2-40B4-BE49-F238E27FC236}">
                <a16:creationId xmlns:a16="http://schemas.microsoft.com/office/drawing/2014/main" id="{442D6A5B-D3D5-48D8-87A3-9DC2697C5F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007B59FD-0E0E-4759-8FC5-E4232D8035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8328FB2F-AA97-4EFC-9593-FC3E9F7D1796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BEHAVIOUR OVER TIME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85E81FCA-08A1-48D8-B081-6042FE48BE8E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rPr>
              <a:t>What we found from monthly state transitions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FE5E409C-EEF3-4294-A74C-457945DF21BC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512445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0100" y="2019776"/>
            <a:ext cx="4743450" cy="2608898"/>
          </a:xfrm>
          <a:prstGeom prst="rect">
            <a:avLst/>
          </a:prstGeom>
        </p:spPr>
      </p:pic>
      <p:sp>
        <p:nvSpPr>
          <p:cNvPr id="7" name="Dikdörtgen 6">
            <a:extLst>
              <a:ext uri="{FF2B5EF4-FFF2-40B4-BE49-F238E27FC236}">
                <a16:creationId xmlns:a16="http://schemas.microsoft.com/office/drawing/2014/main" id="{35553CE9-CBAF-434F-A506-EB444EC3FC52}"/>
              </a:ext>
            </a:extLst>
          </p:cNvPr>
          <p:cNvSpPr>
            <a:spLocks noGrp="1"/>
          </p:cNvSpPr>
          <p:nvPr/>
        </p:nvSpPr>
        <p:spPr>
          <a:xfrm>
            <a:off x="6191250" y="1390650"/>
            <a:ext cx="495300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6419F043-D776-4A2B-A03A-DE790E1E0752}"/>
              </a:ext>
            </a:extLst>
          </p:cNvPr>
          <p:cNvSpPr>
            <a:spLocks noGrp="1"/>
          </p:cNvSpPr>
          <p:nvPr/>
        </p:nvSpPr>
        <p:spPr>
          <a:xfrm>
            <a:off x="6496050" y="17526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Temporal findings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7E086DAC-C4A8-4266-8F80-5E401A2091C2}"/>
              </a:ext>
            </a:extLst>
          </p:cNvPr>
          <p:cNvSpPr>
            <a:spLocks noGrp="1"/>
          </p:cNvSpPr>
          <p:nvPr/>
        </p:nvSpPr>
        <p:spPr>
          <a:xfrm>
            <a:off x="6610350" y="23526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80BF6486-AD1E-4987-9006-B34FBA06197A}"/>
              </a:ext>
            </a:extLst>
          </p:cNvPr>
          <p:cNvSpPr>
            <a:spLocks noGrp="1"/>
          </p:cNvSpPr>
          <p:nvPr/>
        </p:nvSpPr>
        <p:spPr>
          <a:xfrm>
            <a:off x="6819900" y="2286000"/>
            <a:ext cx="34099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Wallets do move between roles, so roles are behavioural states rather than permanent identities.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122EC063-77F1-4C7C-BD41-1E4CA7EAE1E2}"/>
              </a:ext>
            </a:extLst>
          </p:cNvPr>
          <p:cNvSpPr>
            <a:spLocks noGrp="1"/>
          </p:cNvSpPr>
          <p:nvPr/>
        </p:nvSpPr>
        <p:spPr>
          <a:xfrm>
            <a:off x="6610350" y="29432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59AA8D84-8A71-47F3-A10D-52FD24968CF2}"/>
              </a:ext>
            </a:extLst>
          </p:cNvPr>
          <p:cNvSpPr>
            <a:spLocks noGrp="1"/>
          </p:cNvSpPr>
          <p:nvPr/>
        </p:nvSpPr>
        <p:spPr>
          <a:xfrm>
            <a:off x="6819900" y="2876550"/>
            <a:ext cx="34099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The system is structured: mean self-transition was 0.4538 across 11 month-to-month transitions.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88705A9C-18FD-44B3-A337-D27312C64C13}"/>
              </a:ext>
            </a:extLst>
          </p:cNvPr>
          <p:cNvSpPr>
            <a:spLocks noGrp="1"/>
          </p:cNvSpPr>
          <p:nvPr/>
        </p:nvSpPr>
        <p:spPr>
          <a:xfrm>
            <a:off x="6610350" y="35337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50DB3A76-C21D-498C-9437-DAB99D7F3544}"/>
              </a:ext>
            </a:extLst>
          </p:cNvPr>
          <p:cNvSpPr>
            <a:spLocks noGrp="1"/>
          </p:cNvSpPr>
          <p:nvPr/>
        </p:nvSpPr>
        <p:spPr>
          <a:xfrm>
            <a:off x="6819900" y="3467100"/>
            <a:ext cx="34099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C3 showed the strongest retention at 0.5237, while C5 was the least stable at 0.2340.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80B49202-19EF-4CBF-9F1A-B134110E26A1}"/>
              </a:ext>
            </a:extLst>
          </p:cNvPr>
          <p:cNvSpPr>
            <a:spLocks noGrp="1"/>
          </p:cNvSpPr>
          <p:nvPr/>
        </p:nvSpPr>
        <p:spPr>
          <a:xfrm>
            <a:off x="6610350" y="41243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453D6CAE-2EA1-4EBF-9AEF-50ED496DF3A1}"/>
              </a:ext>
            </a:extLst>
          </p:cNvPr>
          <p:cNvSpPr>
            <a:spLocks noGrp="1"/>
          </p:cNvSpPr>
          <p:nvPr/>
        </p:nvSpPr>
        <p:spPr>
          <a:xfrm>
            <a:off x="6819900" y="4057650"/>
            <a:ext cx="34099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Off-diagonal transitions show likely pathways between low-activity, receiver, hub, and bridge-like behaviour.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67DD78AB-01B1-4D81-8335-5EAB27CD0947}"/>
              </a:ext>
            </a:extLst>
          </p:cNvPr>
          <p:cNvSpPr>
            <a:spLocks noGrp="1"/>
          </p:cNvSpPr>
          <p:nvPr/>
        </p:nvSpPr>
        <p:spPr>
          <a:xfrm>
            <a:off x="1428750" y="5657850"/>
            <a:ext cx="8858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Finding: stability is moderate, not absolute. That is useful because it captures both persistent roles and behavioural change.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7B5076CB-6C1A-4646-8F5C-3A70AA2F0A78}"/>
              </a:ext>
            </a:extLst>
          </p:cNvPr>
          <p:cNvSpPr>
            <a:spLocks noGrp="1"/>
          </p:cNvSpPr>
          <p:nvPr/>
        </p:nvSpPr>
        <p:spPr>
          <a:xfrm>
            <a:off x="11468100" y="63246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96838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Dikdörtgen 35">
            <a:extLst>
              <a:ext uri="{FF2B5EF4-FFF2-40B4-BE49-F238E27FC236}">
                <a16:creationId xmlns:a16="http://schemas.microsoft.com/office/drawing/2014/main" id="{5C7209E8-B90D-4FB4-934F-76DCDEB5A1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7FBA53A9-425C-4AF0-9DA6-ACC315019C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5BA1716D-74B5-42BA-962C-E1B3B2A2D308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CROSS-ANALYSIS CORRESPONDENCE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E58D75CB-4D93-4CFE-AE40-9F4A04167172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rPr>
              <a:t>Did similar roles appear across analysis variants?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1270C623-CDE2-4AD1-8D8D-23C40203E6C4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4838700" cy="3943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79A7C7D7-423A-4346-8983-95213DBCE5B6}"/>
              </a:ext>
            </a:extLst>
          </p:cNvPr>
          <p:cNvSpPr>
            <a:spLocks noGrp="1"/>
          </p:cNvSpPr>
          <p:nvPr/>
        </p:nvSpPr>
        <p:spPr>
          <a:xfrm>
            <a:off x="952500" y="1714500"/>
            <a:ext cx="2952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Permutation test summary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8A710022-B7CF-4D02-8367-C7450F9607F0}"/>
              </a:ext>
            </a:extLst>
          </p:cNvPr>
          <p:cNvSpPr>
            <a:spLocks noGrp="1"/>
          </p:cNvSpPr>
          <p:nvPr/>
        </p:nvSpPr>
        <p:spPr>
          <a:xfrm>
            <a:off x="990600" y="2247900"/>
            <a:ext cx="16954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C79244A5-41F4-4573-9AB0-29E67F271F67}"/>
              </a:ext>
            </a:extLst>
          </p:cNvPr>
          <p:cNvSpPr>
            <a:spLocks noGrp="1"/>
          </p:cNvSpPr>
          <p:nvPr/>
        </p:nvSpPr>
        <p:spPr>
          <a:xfrm>
            <a:off x="990600" y="2247900"/>
            <a:ext cx="47625" cy="8001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242E2AAF-75A4-41E6-9115-4C63A74269C4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1314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Observed overlap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DECE73C8-BC08-4EF3-BFE6-A1FBD6B7C0CC}"/>
              </a:ext>
            </a:extLst>
          </p:cNvPr>
          <p:cNvSpPr>
            <a:spLocks noGrp="1"/>
          </p:cNvSpPr>
          <p:nvPr/>
        </p:nvSpPr>
        <p:spPr>
          <a:xfrm>
            <a:off x="1162050" y="2647950"/>
            <a:ext cx="1314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0.3952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35B1C409-92E9-4F7D-A57D-8F86D59C7636}"/>
              </a:ext>
            </a:extLst>
          </p:cNvPr>
          <p:cNvSpPr>
            <a:spLocks noGrp="1"/>
          </p:cNvSpPr>
          <p:nvPr/>
        </p:nvSpPr>
        <p:spPr>
          <a:xfrm>
            <a:off x="3048000" y="2247900"/>
            <a:ext cx="16954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C9685275-B496-4419-9FCF-A53D2575349A}"/>
              </a:ext>
            </a:extLst>
          </p:cNvPr>
          <p:cNvSpPr>
            <a:spLocks noGrp="1"/>
          </p:cNvSpPr>
          <p:nvPr/>
        </p:nvSpPr>
        <p:spPr>
          <a:xfrm>
            <a:off x="3048000" y="2247900"/>
            <a:ext cx="47625" cy="800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8499A5C4-057C-47ED-9D57-67A5510F0FAC}"/>
              </a:ext>
            </a:extLst>
          </p:cNvPr>
          <p:cNvSpPr>
            <a:spLocks noGrp="1"/>
          </p:cNvSpPr>
          <p:nvPr/>
        </p:nvSpPr>
        <p:spPr>
          <a:xfrm>
            <a:off x="3219450" y="2381250"/>
            <a:ext cx="1314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Random null mean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608DD018-22F8-483C-A005-A409EDC5C54C}"/>
              </a:ext>
            </a:extLst>
          </p:cNvPr>
          <p:cNvSpPr>
            <a:spLocks noGrp="1"/>
          </p:cNvSpPr>
          <p:nvPr/>
        </p:nvSpPr>
        <p:spPr>
          <a:xfrm>
            <a:off x="3219450" y="2647950"/>
            <a:ext cx="1314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0.2539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6DC6CF79-3336-4E96-89DA-CCEF8552C895}"/>
              </a:ext>
            </a:extLst>
          </p:cNvPr>
          <p:cNvSpPr>
            <a:spLocks noGrp="1"/>
          </p:cNvSpPr>
          <p:nvPr/>
        </p:nvSpPr>
        <p:spPr>
          <a:xfrm>
            <a:off x="990600" y="3352800"/>
            <a:ext cx="16954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7F7CF1AB-325D-411D-8423-03F6638DD8EF}"/>
              </a:ext>
            </a:extLst>
          </p:cNvPr>
          <p:cNvSpPr>
            <a:spLocks noGrp="1"/>
          </p:cNvSpPr>
          <p:nvPr/>
        </p:nvSpPr>
        <p:spPr>
          <a:xfrm>
            <a:off x="990600" y="3352800"/>
            <a:ext cx="47625" cy="8001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4CD44C27-F26D-44D6-8E70-8EC314D47665}"/>
              </a:ext>
            </a:extLst>
          </p:cNvPr>
          <p:cNvSpPr>
            <a:spLocks noGrp="1"/>
          </p:cNvSpPr>
          <p:nvPr/>
        </p:nvSpPr>
        <p:spPr>
          <a:xfrm>
            <a:off x="1162050" y="3486150"/>
            <a:ext cx="1314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Difference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FEFB8885-FB41-4F1F-9831-011E478D0696}"/>
              </a:ext>
            </a:extLst>
          </p:cNvPr>
          <p:cNvSpPr>
            <a:spLocks noGrp="1"/>
          </p:cNvSpPr>
          <p:nvPr/>
        </p:nvSpPr>
        <p:spPr>
          <a:xfrm>
            <a:off x="1162050" y="3752850"/>
            <a:ext cx="1314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+0.1413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72E6AF88-934C-4B94-8C11-3D4F3885A688}"/>
              </a:ext>
            </a:extLst>
          </p:cNvPr>
          <p:cNvSpPr>
            <a:spLocks noGrp="1"/>
          </p:cNvSpPr>
          <p:nvPr/>
        </p:nvSpPr>
        <p:spPr>
          <a:xfrm>
            <a:off x="3048000" y="3352800"/>
            <a:ext cx="16954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BA9DFB8C-E84E-4932-9221-A0D38B4E130C}"/>
              </a:ext>
            </a:extLst>
          </p:cNvPr>
          <p:cNvSpPr>
            <a:spLocks noGrp="1"/>
          </p:cNvSpPr>
          <p:nvPr/>
        </p:nvSpPr>
        <p:spPr>
          <a:xfrm>
            <a:off x="3048000" y="3352800"/>
            <a:ext cx="47625" cy="800100"/>
          </a:xfrm>
          <a:prstGeom prst="rect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D9915626-CDC6-4310-BD46-E5703324C66E}"/>
              </a:ext>
            </a:extLst>
          </p:cNvPr>
          <p:cNvSpPr>
            <a:spLocks noGrp="1"/>
          </p:cNvSpPr>
          <p:nvPr/>
        </p:nvSpPr>
        <p:spPr>
          <a:xfrm>
            <a:off x="3219450" y="3486150"/>
            <a:ext cx="1314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Empirical p-value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03BE84B3-B18F-4DE6-8142-7DF9E5A3EA38}"/>
              </a:ext>
            </a:extLst>
          </p:cNvPr>
          <p:cNvSpPr>
            <a:spLocks noGrp="1"/>
          </p:cNvSpPr>
          <p:nvPr/>
        </p:nvSpPr>
        <p:spPr>
          <a:xfrm>
            <a:off x="3219450" y="3752850"/>
            <a:ext cx="1314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0.000999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8DFAE735-DD94-411E-B51D-B4D2EC2CD72F}"/>
              </a:ext>
            </a:extLst>
          </p:cNvPr>
          <p:cNvSpPr>
            <a:spLocks noGrp="1"/>
          </p:cNvSpPr>
          <p:nvPr/>
        </p:nvSpPr>
        <p:spPr>
          <a:xfrm>
            <a:off x="990600" y="4552950"/>
            <a:ext cx="36766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Interpretation: alignment between roles across analyses was stronger than expected from randomized labels.</a:t>
            </a: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98DBAFE5-FE44-4B59-AF59-03D929B09389}"/>
              </a:ext>
            </a:extLst>
          </p:cNvPr>
          <p:cNvSpPr>
            <a:spLocks noGrp="1"/>
          </p:cNvSpPr>
          <p:nvPr/>
        </p:nvSpPr>
        <p:spPr>
          <a:xfrm>
            <a:off x="6096000" y="1390650"/>
            <a:ext cx="4953000" cy="3943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E7A40B7F-A64F-4299-A19C-89FBD3B834B6}"/>
              </a:ext>
            </a:extLst>
          </p:cNvPr>
          <p:cNvSpPr>
            <a:spLocks noGrp="1"/>
          </p:cNvSpPr>
          <p:nvPr/>
        </p:nvSpPr>
        <p:spPr>
          <a:xfrm>
            <a:off x="6400800" y="175260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Formal matching rule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C27BE6EF-EE39-420C-AE30-351081EC66B8}"/>
              </a:ext>
            </a:extLst>
          </p:cNvPr>
          <p:cNvSpPr>
            <a:spLocks noGrp="1"/>
          </p:cNvSpPr>
          <p:nvPr/>
        </p:nvSpPr>
        <p:spPr>
          <a:xfrm>
            <a:off x="6515100" y="23336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9CBC8433-81AD-4A2B-BBC8-FA20753E20CF}"/>
              </a:ext>
            </a:extLst>
          </p:cNvPr>
          <p:cNvSpPr>
            <a:spLocks noGrp="1"/>
          </p:cNvSpPr>
          <p:nvPr/>
        </p:nvSpPr>
        <p:spPr>
          <a:xfrm>
            <a:off x="6724650" y="2266950"/>
            <a:ext cx="3409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We compared cluster profiles using four metrics: cosine, weighted Euclidean, Mahalanobis, and Wasserstein.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63E1A0F0-0E4D-4DC8-8ACF-A9A51795F9F3}"/>
              </a:ext>
            </a:extLst>
          </p:cNvPr>
          <p:cNvSpPr>
            <a:spLocks noGrp="1"/>
          </p:cNvSpPr>
          <p:nvPr/>
        </p:nvSpPr>
        <p:spPr>
          <a:xfrm>
            <a:off x="6515100" y="28860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17FD2756-82F2-42F3-9B4C-0B8BA2075A6F}"/>
              </a:ext>
            </a:extLst>
          </p:cNvPr>
          <p:cNvSpPr>
            <a:spLocks noGrp="1"/>
          </p:cNvSpPr>
          <p:nvPr/>
        </p:nvSpPr>
        <p:spPr>
          <a:xfrm>
            <a:off x="6724650" y="2819400"/>
            <a:ext cx="3409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Hungarian matching was used to align clusters rather than comparing labels by name.</a:t>
            </a:r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A5A41F0F-3F3F-42C4-A146-39314F5A8F39}"/>
              </a:ext>
            </a:extLst>
          </p:cNvPr>
          <p:cNvSpPr>
            <a:spLocks noGrp="1"/>
          </p:cNvSpPr>
          <p:nvPr/>
        </p:nvSpPr>
        <p:spPr>
          <a:xfrm>
            <a:off x="6515100" y="34385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22375CFA-F6D5-4DF8-A142-EA08805A5765}"/>
              </a:ext>
            </a:extLst>
          </p:cNvPr>
          <p:cNvSpPr>
            <a:spLocks noGrp="1"/>
          </p:cNvSpPr>
          <p:nvPr/>
        </p:nvSpPr>
        <p:spPr>
          <a:xfrm>
            <a:off x="6724650" y="3371850"/>
            <a:ext cx="3409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Five cluster pairs appeared as core correspondences under at least three of four metrics.</a:t>
            </a:r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7B324A0B-2C97-4D5B-B374-47E5F100848A}"/>
              </a:ext>
            </a:extLst>
          </p:cNvPr>
          <p:cNvSpPr>
            <a:spLocks noGrp="1"/>
          </p:cNvSpPr>
          <p:nvPr/>
        </p:nvSpPr>
        <p:spPr>
          <a:xfrm>
            <a:off x="6515100" y="39909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EDCCD8AD-8BBA-4530-9A5D-7AA8383618BF}"/>
              </a:ext>
            </a:extLst>
          </p:cNvPr>
          <p:cNvSpPr>
            <a:spLocks noGrp="1"/>
          </p:cNvSpPr>
          <p:nvPr/>
        </p:nvSpPr>
        <p:spPr>
          <a:xfrm>
            <a:off x="6724650" y="3924300"/>
            <a:ext cx="3409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Two pairs appeared under all four metrics: 2-&gt;2 and 4-&gt;1.</a:t>
            </a: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68CD7F7D-A83B-4673-BD8C-E3E083FD139D}"/>
              </a:ext>
            </a:extLst>
          </p:cNvPr>
          <p:cNvSpPr>
            <a:spLocks noGrp="1"/>
          </p:cNvSpPr>
          <p:nvPr/>
        </p:nvSpPr>
        <p:spPr>
          <a:xfrm>
            <a:off x="1123950" y="5734050"/>
            <a:ext cx="9620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Finding: role structure is partly reproducible across analysis variants, but label-overlap and profile-distance correspondence are separate results.</a:t>
            </a:r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E3634C2B-E3D6-4552-A374-10D453288BB3}"/>
              </a:ext>
            </a:extLst>
          </p:cNvPr>
          <p:cNvSpPr>
            <a:spLocks noGrp="1"/>
          </p:cNvSpPr>
          <p:nvPr/>
        </p:nvSpPr>
        <p:spPr>
          <a:xfrm>
            <a:off x="11468100" y="63246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97980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ikdörtgen 15">
            <a:extLst>
              <a:ext uri="{FF2B5EF4-FFF2-40B4-BE49-F238E27FC236}">
                <a16:creationId xmlns:a16="http://schemas.microsoft.com/office/drawing/2014/main" id="{6E2E1EA0-C614-40F0-8E26-F5E4939683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33C18524-C2BE-4128-9AB6-1A6DA9E611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A0ED45CE-C6D5-4377-B00F-18325A28DCFD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ROBUSTNESS AND DATA SUFFICIENCY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9FC7D60F-2DAA-46BE-92CB-C37314788DD0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rPr>
              <a:t>Are the findings caused by duplicate features or too much data?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B284DED5-6B6B-4720-97A0-4526A83F87CE}"/>
              </a:ext>
            </a:extLst>
          </p:cNvPr>
          <p:cNvSpPr>
            <a:spLocks noGrp="1"/>
          </p:cNvSpPr>
          <p:nvPr/>
        </p:nvSpPr>
        <p:spPr>
          <a:xfrm>
            <a:off x="590550" y="1371600"/>
            <a:ext cx="5124450" cy="38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1050" y="1865709"/>
            <a:ext cx="4743450" cy="2174081"/>
          </a:xfrm>
          <a:prstGeom prst="rect">
            <a:avLst/>
          </a:prstGeom>
        </p:spPr>
      </p:pic>
      <p:sp>
        <p:nvSpPr>
          <p:cNvPr id="7" name="Dikdörtgen 6">
            <a:extLst>
              <a:ext uri="{FF2B5EF4-FFF2-40B4-BE49-F238E27FC236}">
                <a16:creationId xmlns:a16="http://schemas.microsoft.com/office/drawing/2014/main" id="{E09D7F8D-A585-4389-BBD1-0D37B5D42F43}"/>
              </a:ext>
            </a:extLst>
          </p:cNvPr>
          <p:cNvSpPr>
            <a:spLocks noGrp="1"/>
          </p:cNvSpPr>
          <p:nvPr/>
        </p:nvSpPr>
        <p:spPr>
          <a:xfrm>
            <a:off x="876300" y="4400550"/>
            <a:ext cx="40957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Feature-set check: sampled 137,297 overlapping wallets. Median absolute Spearman correlation was 0.2612; only 8.08 percent of pairs were at least 0.8.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7D991685-2D49-4EFB-8B79-01388492BAF1}"/>
              </a:ext>
            </a:extLst>
          </p:cNvPr>
          <p:cNvSpPr>
            <a:spLocks noGrp="1"/>
          </p:cNvSpPr>
          <p:nvPr/>
        </p:nvSpPr>
        <p:spPr>
          <a:xfrm>
            <a:off x="6191250" y="1371600"/>
            <a:ext cx="5124450" cy="38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Resim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35725" y="1562100"/>
            <a:ext cx="4635500" cy="2781300"/>
          </a:xfrm>
          <a:prstGeom prst="rect">
            <a:avLst/>
          </a:prstGeom>
        </p:spPr>
      </p:pic>
      <p:sp>
        <p:nvSpPr>
          <p:cNvPr id="10" name="Dikdörtgen 9">
            <a:extLst>
              <a:ext uri="{FF2B5EF4-FFF2-40B4-BE49-F238E27FC236}">
                <a16:creationId xmlns:a16="http://schemas.microsoft.com/office/drawing/2014/main" id="{FF1504CF-3D3C-4AA6-B1C8-3CA1D88B8D8A}"/>
              </a:ext>
            </a:extLst>
          </p:cNvPr>
          <p:cNvSpPr>
            <a:spLocks noGrp="1"/>
          </p:cNvSpPr>
          <p:nvPr/>
        </p:nvSpPr>
        <p:spPr>
          <a:xfrm>
            <a:off x="6477000" y="4400550"/>
            <a:ext cx="40957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Observation-density check: repeated KMeans on 10, 25, 50, 75, and 100 percent subsamples showed recoverable core structure, but should not be overclaimed as a universal threshold.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11ABEE0E-1F5C-44FA-AA9E-4D1BFC318BE8}"/>
              </a:ext>
            </a:extLst>
          </p:cNvPr>
          <p:cNvSpPr>
            <a:spLocks noGrp="1"/>
          </p:cNvSpPr>
          <p:nvPr/>
        </p:nvSpPr>
        <p:spPr>
          <a:xfrm>
            <a:off x="1200150" y="57435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6A69F015-CBB0-4A15-8C20-EA93DE0FBA9E}"/>
              </a:ext>
            </a:extLst>
          </p:cNvPr>
          <p:cNvSpPr>
            <a:spLocks noGrp="1"/>
          </p:cNvSpPr>
          <p:nvPr/>
        </p:nvSpPr>
        <p:spPr>
          <a:xfrm>
            <a:off x="1409700" y="5676900"/>
            <a:ext cx="8839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Finding 1: expanded features are related to the original features, but not redundant.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AB9B8652-EFE0-41A6-BD95-9AD2B8B00593}"/>
              </a:ext>
            </a:extLst>
          </p:cNvPr>
          <p:cNvSpPr>
            <a:spLocks noGrp="1"/>
          </p:cNvSpPr>
          <p:nvPr/>
        </p:nvSpPr>
        <p:spPr>
          <a:xfrm>
            <a:off x="1200150" y="60483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EFCC7E53-BA6F-40AD-ABC0-6481FA3FABB1}"/>
              </a:ext>
            </a:extLst>
          </p:cNvPr>
          <p:cNvSpPr>
            <a:spLocks noGrp="1"/>
          </p:cNvSpPr>
          <p:nvPr/>
        </p:nvSpPr>
        <p:spPr>
          <a:xfrm>
            <a:off x="1409700" y="5981700"/>
            <a:ext cx="8839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Finding 2: core roles can reappear under reduced observation, while rare or specialized roles are more data-sensitive.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9570D4C8-AF80-4C15-9594-8584916E32E7}"/>
              </a:ext>
            </a:extLst>
          </p:cNvPr>
          <p:cNvSpPr>
            <a:spLocks noGrp="1"/>
          </p:cNvSpPr>
          <p:nvPr/>
        </p:nvSpPr>
        <p:spPr>
          <a:xfrm>
            <a:off x="11468100" y="63246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47017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>
            <a:extLst>
              <a:ext uri="{FF2B5EF4-FFF2-40B4-BE49-F238E27FC236}">
                <a16:creationId xmlns:a16="http://schemas.microsoft.com/office/drawing/2014/main" id="{7D79B64A-FF0D-496E-BC52-7F2929B5D7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5DBE069A-BBC8-4C37-AA92-5E4EBB2EC4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0A268BD3-EA6B-4CFF-B517-A99A0B9CD76C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INTERNAL STRUCTURE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486B09A1-3ECD-4443-A830-7BE7876BBAA2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rPr>
              <a:t>The six roles are the top layer, not the whole story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BDE664D7-1552-4B0A-8508-D8385298467E}"/>
              </a:ext>
            </a:extLst>
          </p:cNvPr>
          <p:cNvSpPr>
            <a:spLocks noGrp="1"/>
          </p:cNvSpPr>
          <p:nvPr/>
        </p:nvSpPr>
        <p:spPr>
          <a:xfrm>
            <a:off x="704850" y="1409700"/>
            <a:ext cx="5048250" cy="38481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" y="1924050"/>
            <a:ext cx="4667250" cy="2800350"/>
          </a:xfrm>
          <a:prstGeom prst="rect">
            <a:avLst/>
          </a:prstGeom>
        </p:spPr>
      </p:pic>
      <p:sp>
        <p:nvSpPr>
          <p:cNvPr id="7" name="Dikdörtgen 6">
            <a:extLst>
              <a:ext uri="{FF2B5EF4-FFF2-40B4-BE49-F238E27FC236}">
                <a16:creationId xmlns:a16="http://schemas.microsoft.com/office/drawing/2014/main" id="{B723B513-49D8-4943-9F5B-CB0D9ED5E853}"/>
              </a:ext>
            </a:extLst>
          </p:cNvPr>
          <p:cNvSpPr>
            <a:spLocks noGrp="1"/>
          </p:cNvSpPr>
          <p:nvPr/>
        </p:nvSpPr>
        <p:spPr>
          <a:xfrm>
            <a:off x="6343650" y="1409700"/>
            <a:ext cx="4762500" cy="38481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AE3119A8-53D8-4F84-910C-DF1CE7BB6612}"/>
              </a:ext>
            </a:extLst>
          </p:cNvPr>
          <p:cNvSpPr>
            <a:spLocks noGrp="1"/>
          </p:cNvSpPr>
          <p:nvPr/>
        </p:nvSpPr>
        <p:spPr>
          <a:xfrm>
            <a:off x="6648450" y="17526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What this showed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622B39B5-11E9-459A-ABAD-0A2F404B1C17}"/>
              </a:ext>
            </a:extLst>
          </p:cNvPr>
          <p:cNvSpPr>
            <a:spLocks noGrp="1"/>
          </p:cNvSpPr>
          <p:nvPr/>
        </p:nvSpPr>
        <p:spPr>
          <a:xfrm>
            <a:off x="6762750" y="23526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707731C9-68D9-4EAD-8F04-ED5E4662EA15}"/>
              </a:ext>
            </a:extLst>
          </p:cNvPr>
          <p:cNvSpPr>
            <a:spLocks noGrp="1"/>
          </p:cNvSpPr>
          <p:nvPr/>
        </p:nvSpPr>
        <p:spPr>
          <a:xfrm>
            <a:off x="6972300" y="2286000"/>
            <a:ext cx="32194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We tested whether each main role contains finer behavioural subtypes.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43B5B7A4-055B-4A03-A8AE-D3A65F08E547}"/>
              </a:ext>
            </a:extLst>
          </p:cNvPr>
          <p:cNvSpPr>
            <a:spLocks noGrp="1"/>
          </p:cNvSpPr>
          <p:nvPr/>
        </p:nvSpPr>
        <p:spPr>
          <a:xfrm>
            <a:off x="6762750" y="29432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E9DF34EE-FAD8-4E4E-ACC6-C4DC22DD5CA0}"/>
              </a:ext>
            </a:extLst>
          </p:cNvPr>
          <p:cNvSpPr>
            <a:spLocks noGrp="1"/>
          </p:cNvSpPr>
          <p:nvPr/>
        </p:nvSpPr>
        <p:spPr>
          <a:xfrm>
            <a:off x="6972300" y="2876550"/>
            <a:ext cx="32194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C5 had the strongest internal subcluster signal, with silhouette around 0.726.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733D23B0-089D-4E24-868E-0D4B511AEFB4}"/>
              </a:ext>
            </a:extLst>
          </p:cNvPr>
          <p:cNvSpPr>
            <a:spLocks noGrp="1"/>
          </p:cNvSpPr>
          <p:nvPr/>
        </p:nvSpPr>
        <p:spPr>
          <a:xfrm>
            <a:off x="6762750" y="35337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99DAE638-7632-4716-9446-1B121E271C27}"/>
              </a:ext>
            </a:extLst>
          </p:cNvPr>
          <p:cNvSpPr>
            <a:spLocks noGrp="1"/>
          </p:cNvSpPr>
          <p:nvPr/>
        </p:nvSpPr>
        <p:spPr>
          <a:xfrm>
            <a:off x="6972300" y="3467100"/>
            <a:ext cx="32194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C3 also showed meaningful bridge-like internal structure.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F128567E-1547-4DC9-8B2A-5F3447AC98D3}"/>
              </a:ext>
            </a:extLst>
          </p:cNvPr>
          <p:cNvSpPr>
            <a:spLocks noGrp="1"/>
          </p:cNvSpPr>
          <p:nvPr/>
        </p:nvSpPr>
        <p:spPr>
          <a:xfrm>
            <a:off x="6762750" y="41243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D986F7AA-4EA9-42DB-8C7C-849DB56894C5}"/>
              </a:ext>
            </a:extLst>
          </p:cNvPr>
          <p:cNvSpPr>
            <a:spLocks noGrp="1"/>
          </p:cNvSpPr>
          <p:nvPr/>
        </p:nvSpPr>
        <p:spPr>
          <a:xfrm>
            <a:off x="6972300" y="4057650"/>
            <a:ext cx="32194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This suggests KMeans6 is useful as a high-level role layer, but some roles contain important sub-roles.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E73BBF0F-8BDC-4C4F-87E9-E76CE3F20250}"/>
              </a:ext>
            </a:extLst>
          </p:cNvPr>
          <p:cNvSpPr>
            <a:spLocks noGrp="1"/>
          </p:cNvSpPr>
          <p:nvPr/>
        </p:nvSpPr>
        <p:spPr>
          <a:xfrm>
            <a:off x="1428750" y="5753100"/>
            <a:ext cx="8858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Finding: the final system can support both a coarse role vocabulary and finer agent-type modelling later.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91E2F232-E1D3-4630-B883-5FB5BBE990F5}"/>
              </a:ext>
            </a:extLst>
          </p:cNvPr>
          <p:cNvSpPr>
            <a:spLocks noGrp="1"/>
          </p:cNvSpPr>
          <p:nvPr/>
        </p:nvSpPr>
        <p:spPr>
          <a:xfrm>
            <a:off x="11468100" y="63246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208840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Dikdörtgen 30">
            <a:extLst>
              <a:ext uri="{FF2B5EF4-FFF2-40B4-BE49-F238E27FC236}">
                <a16:creationId xmlns:a16="http://schemas.microsoft.com/office/drawing/2014/main" id="{A1653C1B-8546-4D2E-AED2-4CDB0FE9A0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ABDAF8B8-B7D2-452A-B660-4882A57D9E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D50D49FB-0855-47E7-BAF7-965FB02A521E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WHAT WE ACCOMPLISHED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0ABC9AC2-BAA5-4A4E-8D0A-AA6F5E06D56A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rPr>
              <a:t>Chronological summary of the project work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8BFEAC9B-4262-4FCB-97EE-70307DF8BB23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1432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CFC71C88-7DD0-4B49-8BA2-AEED90AD3878}"/>
              </a:ext>
            </a:extLst>
          </p:cNvPr>
          <p:cNvSpPr>
            <a:spLocks noGrp="1"/>
          </p:cNvSpPr>
          <p:nvPr/>
        </p:nvSpPr>
        <p:spPr>
          <a:xfrm>
            <a:off x="1028700" y="17526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ENS 491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0F7EB9C5-F983-4162-9903-90E8922EF96E}"/>
              </a:ext>
            </a:extLst>
          </p:cNvPr>
          <p:cNvSpPr>
            <a:spLocks noGrp="1"/>
          </p:cNvSpPr>
          <p:nvPr/>
        </p:nvSpPr>
        <p:spPr>
          <a:xfrm>
            <a:off x="1123950" y="2390775"/>
            <a:ext cx="762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7A05F39B-8DE6-47F4-9652-544DBB202B11}"/>
              </a:ext>
            </a:extLst>
          </p:cNvPr>
          <p:cNvSpPr>
            <a:spLocks noGrp="1"/>
          </p:cNvSpPr>
          <p:nvPr/>
        </p:nvSpPr>
        <p:spPr>
          <a:xfrm>
            <a:off x="1333500" y="2324100"/>
            <a:ext cx="19812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Started with an AI-governed crypto-bank simulator concept.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58210901-0A1A-41F1-AF61-49864443A3D1}"/>
              </a:ext>
            </a:extLst>
          </p:cNvPr>
          <p:cNvSpPr>
            <a:spLocks noGrp="1"/>
          </p:cNvSpPr>
          <p:nvPr/>
        </p:nvSpPr>
        <p:spPr>
          <a:xfrm>
            <a:off x="1123950" y="3114675"/>
            <a:ext cx="762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1248BEA8-36EB-4B55-92E0-4FD26FF22D60}"/>
              </a:ext>
            </a:extLst>
          </p:cNvPr>
          <p:cNvSpPr>
            <a:spLocks noGrp="1"/>
          </p:cNvSpPr>
          <p:nvPr/>
        </p:nvSpPr>
        <p:spPr>
          <a:xfrm>
            <a:off x="1333500" y="3048000"/>
            <a:ext cx="19812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Defined motivation around interpretable blockchain finance behaviour.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7AFB4CA5-A7D2-4E2A-B53C-168EA945DCD0}"/>
              </a:ext>
            </a:extLst>
          </p:cNvPr>
          <p:cNvSpPr>
            <a:spLocks noGrp="1"/>
          </p:cNvSpPr>
          <p:nvPr/>
        </p:nvSpPr>
        <p:spPr>
          <a:xfrm>
            <a:off x="1123950" y="3838575"/>
            <a:ext cx="762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8D0F7B80-E918-4018-916A-C63F820D5DA4}"/>
              </a:ext>
            </a:extLst>
          </p:cNvPr>
          <p:cNvSpPr>
            <a:spLocks noGrp="1"/>
          </p:cNvSpPr>
          <p:nvPr/>
        </p:nvSpPr>
        <p:spPr>
          <a:xfrm>
            <a:off x="1333500" y="3771900"/>
            <a:ext cx="19812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Identified that realistic agent types were missing.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EF9DB193-1CF8-4115-9424-C1C1B38F83CB}"/>
              </a:ext>
            </a:extLst>
          </p:cNvPr>
          <p:cNvSpPr>
            <a:spLocks noGrp="1"/>
          </p:cNvSpPr>
          <p:nvPr/>
        </p:nvSpPr>
        <p:spPr>
          <a:xfrm>
            <a:off x="4533900" y="1428750"/>
            <a:ext cx="31432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00C49294-DC2F-4448-860F-D4C427413755}"/>
              </a:ext>
            </a:extLst>
          </p:cNvPr>
          <p:cNvSpPr>
            <a:spLocks noGrp="1"/>
          </p:cNvSpPr>
          <p:nvPr/>
        </p:nvSpPr>
        <p:spPr>
          <a:xfrm>
            <a:off x="4819650" y="17526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Core build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A3649DDE-1981-4AA0-8360-7D6A518EFFCD}"/>
              </a:ext>
            </a:extLst>
          </p:cNvPr>
          <p:cNvSpPr>
            <a:spLocks noGrp="1"/>
          </p:cNvSpPr>
          <p:nvPr/>
        </p:nvSpPr>
        <p:spPr>
          <a:xfrm>
            <a:off x="4914900" y="23907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1ED99CF5-4CF3-4762-B7BF-CFB7D7824484}"/>
              </a:ext>
            </a:extLst>
          </p:cNvPr>
          <p:cNvSpPr>
            <a:spLocks noGrp="1"/>
          </p:cNvSpPr>
          <p:nvPr/>
        </p:nvSpPr>
        <p:spPr>
          <a:xfrm>
            <a:off x="5124450" y="2324100"/>
            <a:ext cx="19812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Built wallet-level feature pipeline from raw Ethereum transactions.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4839F2A8-B083-49BC-8F1A-42B8CB7B9DD5}"/>
              </a:ext>
            </a:extLst>
          </p:cNvPr>
          <p:cNvSpPr>
            <a:spLocks noGrp="1"/>
          </p:cNvSpPr>
          <p:nvPr/>
        </p:nvSpPr>
        <p:spPr>
          <a:xfrm>
            <a:off x="4914900" y="31146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86E2EE4B-1E52-49D7-83E7-E1D3CEEDCC58}"/>
              </a:ext>
            </a:extLst>
          </p:cNvPr>
          <p:cNvSpPr>
            <a:spLocks noGrp="1"/>
          </p:cNvSpPr>
          <p:nvPr/>
        </p:nvSpPr>
        <p:spPr>
          <a:xfrm>
            <a:off x="5124450" y="3048000"/>
            <a:ext cx="19812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Clustered 2.74M wallets into six interpretable roles.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C4AED4B9-CBA0-4334-BC11-D227FC7DF383}"/>
              </a:ext>
            </a:extLst>
          </p:cNvPr>
          <p:cNvSpPr>
            <a:spLocks noGrp="1"/>
          </p:cNvSpPr>
          <p:nvPr/>
        </p:nvSpPr>
        <p:spPr>
          <a:xfrm>
            <a:off x="4914900" y="38385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BBFCFE13-7AE8-4142-B231-F9BD59B95A74}"/>
              </a:ext>
            </a:extLst>
          </p:cNvPr>
          <p:cNvSpPr>
            <a:spLocks noGrp="1"/>
          </p:cNvSpPr>
          <p:nvPr/>
        </p:nvSpPr>
        <p:spPr>
          <a:xfrm>
            <a:off x="5124450" y="3771900"/>
            <a:ext cx="19812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Interpreted roles using feature profiles and cluster sizes.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61EFEAF3-055C-4BB4-A836-1CFD42B9EAC1}"/>
              </a:ext>
            </a:extLst>
          </p:cNvPr>
          <p:cNvSpPr>
            <a:spLocks noGrp="1"/>
          </p:cNvSpPr>
          <p:nvPr/>
        </p:nvSpPr>
        <p:spPr>
          <a:xfrm>
            <a:off x="8324850" y="1428750"/>
            <a:ext cx="31432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CC8455B0-7AFC-4EC3-85E5-75FA0E847996}"/>
              </a:ext>
            </a:extLst>
          </p:cNvPr>
          <p:cNvSpPr>
            <a:spLocks noGrp="1"/>
          </p:cNvSpPr>
          <p:nvPr/>
        </p:nvSpPr>
        <p:spPr>
          <a:xfrm>
            <a:off x="8610600" y="17526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Final stage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59E4BA54-00FF-4D90-BA49-93FD01038542}"/>
              </a:ext>
            </a:extLst>
          </p:cNvPr>
          <p:cNvSpPr>
            <a:spLocks noGrp="1"/>
          </p:cNvSpPr>
          <p:nvPr/>
        </p:nvSpPr>
        <p:spPr>
          <a:xfrm>
            <a:off x="8705850" y="2390775"/>
            <a:ext cx="76200" cy="76200"/>
          </a:xfrm>
          <a:prstGeom prst="rect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DDE75CCB-CA70-4715-8D88-4995B493E81A}"/>
              </a:ext>
            </a:extLst>
          </p:cNvPr>
          <p:cNvSpPr>
            <a:spLocks noGrp="1"/>
          </p:cNvSpPr>
          <p:nvPr/>
        </p:nvSpPr>
        <p:spPr>
          <a:xfrm>
            <a:off x="8915400" y="2324100"/>
            <a:ext cx="19812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Validated roles with graph structure, statistical separation, and temporal transitions.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9B84A840-2587-4514-8AA9-DD0471EA96C6}"/>
              </a:ext>
            </a:extLst>
          </p:cNvPr>
          <p:cNvSpPr>
            <a:spLocks noGrp="1"/>
          </p:cNvSpPr>
          <p:nvPr/>
        </p:nvSpPr>
        <p:spPr>
          <a:xfrm>
            <a:off x="8705850" y="3114675"/>
            <a:ext cx="76200" cy="76200"/>
          </a:xfrm>
          <a:prstGeom prst="rect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A170F75B-D8EA-4FB8-8803-FC9F5534015D}"/>
              </a:ext>
            </a:extLst>
          </p:cNvPr>
          <p:cNvSpPr>
            <a:spLocks noGrp="1"/>
          </p:cNvSpPr>
          <p:nvPr/>
        </p:nvSpPr>
        <p:spPr>
          <a:xfrm>
            <a:off x="8915400" y="3048000"/>
            <a:ext cx="19812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Added correspondence, permutation, feature-redundancy, and observation-density checks.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0A5252E8-1B5B-40EF-A288-DEACE5104BB1}"/>
              </a:ext>
            </a:extLst>
          </p:cNvPr>
          <p:cNvSpPr>
            <a:spLocks noGrp="1"/>
          </p:cNvSpPr>
          <p:nvPr/>
        </p:nvSpPr>
        <p:spPr>
          <a:xfrm>
            <a:off x="8705850" y="3838575"/>
            <a:ext cx="76200" cy="76200"/>
          </a:xfrm>
          <a:prstGeom prst="rect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27BBE077-6065-4866-9547-5A81DAD84DE5}"/>
              </a:ext>
            </a:extLst>
          </p:cNvPr>
          <p:cNvSpPr>
            <a:spLocks noGrp="1"/>
          </p:cNvSpPr>
          <p:nvPr/>
        </p:nvSpPr>
        <p:spPr>
          <a:xfrm>
            <a:off x="8915400" y="3771900"/>
            <a:ext cx="19812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Added feature redundancy and observation-density experiments.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C58CBB4C-DA07-4FE5-88ED-B3C1D98963F9}"/>
              </a:ext>
            </a:extLst>
          </p:cNvPr>
          <p:cNvSpPr>
            <a:spLocks noGrp="1"/>
          </p:cNvSpPr>
          <p:nvPr/>
        </p:nvSpPr>
        <p:spPr>
          <a:xfrm>
            <a:off x="1295400" y="565785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126"/>
                </a:solidFill>
                <a:latin typeface="Aptos"/>
                <a:ea typeface="Aptos"/>
                <a:cs typeface="Aptos"/>
              </a:rPr>
              <a:t>The project moved from engineering a simulator to academically validating the behavioural foundation such a simulator would need.</a:t>
            </a:r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0E85981C-5951-4F7A-BD7E-B0555DFD75A4}"/>
              </a:ext>
            </a:extLst>
          </p:cNvPr>
          <p:cNvSpPr>
            <a:spLocks noGrp="1"/>
          </p:cNvSpPr>
          <p:nvPr/>
        </p:nvSpPr>
        <p:spPr>
          <a:xfrm>
            <a:off x="11468100" y="63246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20489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ikdörtgen 26">
            <a:extLst>
              <a:ext uri="{FF2B5EF4-FFF2-40B4-BE49-F238E27FC236}">
                <a16:creationId xmlns:a16="http://schemas.microsoft.com/office/drawing/2014/main" id="{0F713C78-AB5B-4E3E-A3E7-5440520ED0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6CE27E84-4C44-4233-8F81-EC4B60330C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8EE4B370-AA62-4B8A-B121-92221AC70B3B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FINAL INTERPRETATION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54CF6822-B50A-4B64-B6C4-56235160C481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126"/>
                </a:solidFill>
                <a:latin typeface="Aptos Display"/>
                <a:ea typeface="Aptos Display"/>
                <a:cs typeface="Aptos Display"/>
              </a:rPr>
              <a:t>What we can claim, and what we should be careful about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B226D4A0-CB18-4DEE-A83F-DDB63808F996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4762500" cy="36766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22B5125F-9EB7-422A-AB56-96061F4E052C}"/>
              </a:ext>
            </a:extLst>
          </p:cNvPr>
          <p:cNvSpPr>
            <a:spLocks noGrp="1"/>
          </p:cNvSpPr>
          <p:nvPr/>
        </p:nvSpPr>
        <p:spPr>
          <a:xfrm>
            <a:off x="1028700" y="175260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Strong claims supported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521CDFA3-BA16-4DDB-9D30-8061D4B54CD6}"/>
              </a:ext>
            </a:extLst>
          </p:cNvPr>
          <p:cNvSpPr>
            <a:spLocks noGrp="1"/>
          </p:cNvSpPr>
          <p:nvPr/>
        </p:nvSpPr>
        <p:spPr>
          <a:xfrm>
            <a:off x="1143000" y="23526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C438CEC9-FD28-4CE6-A46B-AB15CFD2FCB9}"/>
              </a:ext>
            </a:extLst>
          </p:cNvPr>
          <p:cNvSpPr>
            <a:spLocks noGrp="1"/>
          </p:cNvSpPr>
          <p:nvPr/>
        </p:nvSpPr>
        <p:spPr>
          <a:xfrm>
            <a:off x="1352550" y="2286000"/>
            <a:ext cx="3219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Wallet roles are interpretable from engineered behavioural features.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2AB31052-A359-4215-AE88-4FAC304C48F4}"/>
              </a:ext>
            </a:extLst>
          </p:cNvPr>
          <p:cNvSpPr>
            <a:spLocks noGrp="1"/>
          </p:cNvSpPr>
          <p:nvPr/>
        </p:nvSpPr>
        <p:spPr>
          <a:xfrm>
            <a:off x="1143000" y="29241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DF5E3382-FEA7-4150-BD88-F63E6FDA3AA4}"/>
              </a:ext>
            </a:extLst>
          </p:cNvPr>
          <p:cNvSpPr>
            <a:spLocks noGrp="1"/>
          </p:cNvSpPr>
          <p:nvPr/>
        </p:nvSpPr>
        <p:spPr>
          <a:xfrm>
            <a:off x="1352550" y="2857500"/>
            <a:ext cx="3219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Roles align strongly with transaction-network structure.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10DB1DAA-4E13-4F34-890D-12F38FE910B8}"/>
              </a:ext>
            </a:extLst>
          </p:cNvPr>
          <p:cNvSpPr>
            <a:spLocks noGrp="1"/>
          </p:cNvSpPr>
          <p:nvPr/>
        </p:nvSpPr>
        <p:spPr>
          <a:xfrm>
            <a:off x="1143000" y="34956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6B523687-FC51-41A1-B90B-8E5606CCEF07}"/>
              </a:ext>
            </a:extLst>
          </p:cNvPr>
          <p:cNvSpPr>
            <a:spLocks noGrp="1"/>
          </p:cNvSpPr>
          <p:nvPr/>
        </p:nvSpPr>
        <p:spPr>
          <a:xfrm>
            <a:off x="1352550" y="3429000"/>
            <a:ext cx="3219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Wallet behaviour has moderate temporal persistence.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F5C167A3-126B-440D-B9A7-34A7251A5993}"/>
              </a:ext>
            </a:extLst>
          </p:cNvPr>
          <p:cNvSpPr>
            <a:spLocks noGrp="1"/>
          </p:cNvSpPr>
          <p:nvPr/>
        </p:nvSpPr>
        <p:spPr>
          <a:xfrm>
            <a:off x="1143000" y="40671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84C75730-C6CE-4643-BD21-F5DCBB3DED28}"/>
              </a:ext>
            </a:extLst>
          </p:cNvPr>
          <p:cNvSpPr>
            <a:spLocks noGrp="1"/>
          </p:cNvSpPr>
          <p:nvPr/>
        </p:nvSpPr>
        <p:spPr>
          <a:xfrm>
            <a:off x="1352550" y="4000500"/>
            <a:ext cx="3219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Cross-analysis checks show non-random role correspondence.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75B01B2A-ECCD-4C4F-BC4F-D4FA8DE4E0AF}"/>
              </a:ext>
            </a:extLst>
          </p:cNvPr>
          <p:cNvSpPr>
            <a:spLocks noGrp="1"/>
          </p:cNvSpPr>
          <p:nvPr/>
        </p:nvSpPr>
        <p:spPr>
          <a:xfrm>
            <a:off x="6343650" y="1428750"/>
            <a:ext cx="4762500" cy="36766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4DB5783F-8626-49CF-9EE1-4492FC400D59}"/>
              </a:ext>
            </a:extLst>
          </p:cNvPr>
          <p:cNvSpPr>
            <a:spLocks noGrp="1"/>
          </p:cNvSpPr>
          <p:nvPr/>
        </p:nvSpPr>
        <p:spPr>
          <a:xfrm>
            <a:off x="6629400" y="175260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Careful wording needed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C4DE6A88-079B-4E88-A7C9-FFE885EDF792}"/>
              </a:ext>
            </a:extLst>
          </p:cNvPr>
          <p:cNvSpPr>
            <a:spLocks noGrp="1"/>
          </p:cNvSpPr>
          <p:nvPr/>
        </p:nvSpPr>
        <p:spPr>
          <a:xfrm>
            <a:off x="6743700" y="2352675"/>
            <a:ext cx="76200" cy="76200"/>
          </a:xfrm>
          <a:prstGeom prst="rect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DA2839DC-EDD1-4136-B970-108397490BE1}"/>
              </a:ext>
            </a:extLst>
          </p:cNvPr>
          <p:cNvSpPr>
            <a:spLocks noGrp="1"/>
          </p:cNvSpPr>
          <p:nvPr/>
        </p:nvSpPr>
        <p:spPr>
          <a:xfrm>
            <a:off x="6953250" y="2286000"/>
            <a:ext cx="3219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Roles are behavioural states, not verified real-world identities.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928D770B-6F02-49D4-8D81-3D743A1DDEBD}"/>
              </a:ext>
            </a:extLst>
          </p:cNvPr>
          <p:cNvSpPr>
            <a:spLocks noGrp="1"/>
          </p:cNvSpPr>
          <p:nvPr/>
        </p:nvSpPr>
        <p:spPr>
          <a:xfrm>
            <a:off x="6743700" y="2924175"/>
            <a:ext cx="76200" cy="76200"/>
          </a:xfrm>
          <a:prstGeom prst="rect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C57A9FE0-A0D4-48D5-90DD-E7E2C97612CD}"/>
              </a:ext>
            </a:extLst>
          </p:cNvPr>
          <p:cNvSpPr>
            <a:spLocks noGrp="1"/>
          </p:cNvSpPr>
          <p:nvPr/>
        </p:nvSpPr>
        <p:spPr>
          <a:xfrm>
            <a:off x="6953250" y="2857500"/>
            <a:ext cx="3219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Subsampling results show recovery in this dataset, not a universal minimum-data threshold.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6331B3FE-23AC-4892-B458-B76B49853201}"/>
              </a:ext>
            </a:extLst>
          </p:cNvPr>
          <p:cNvSpPr>
            <a:spLocks noGrp="1"/>
          </p:cNvSpPr>
          <p:nvPr/>
        </p:nvSpPr>
        <p:spPr>
          <a:xfrm>
            <a:off x="6743700" y="3495675"/>
            <a:ext cx="76200" cy="76200"/>
          </a:xfrm>
          <a:prstGeom prst="rect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0703EF3C-BA98-4F92-8751-2F4EDFD6FB5E}"/>
              </a:ext>
            </a:extLst>
          </p:cNvPr>
          <p:cNvSpPr>
            <a:spLocks noGrp="1"/>
          </p:cNvSpPr>
          <p:nvPr/>
        </p:nvSpPr>
        <p:spPr>
          <a:xfrm>
            <a:off x="6953250" y="3429000"/>
            <a:ext cx="3219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Distance-metric correspondence and wallet-label overlap are different validation results.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CBE426DE-B5D6-4446-8709-9CB42AEF417D}"/>
              </a:ext>
            </a:extLst>
          </p:cNvPr>
          <p:cNvSpPr>
            <a:spLocks noGrp="1"/>
          </p:cNvSpPr>
          <p:nvPr/>
        </p:nvSpPr>
        <p:spPr>
          <a:xfrm>
            <a:off x="6743700" y="4067175"/>
            <a:ext cx="76200" cy="76200"/>
          </a:xfrm>
          <a:prstGeom prst="rect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34E0CB3E-F925-4072-8993-0A5D4FAF0D67}"/>
              </a:ext>
            </a:extLst>
          </p:cNvPr>
          <p:cNvSpPr>
            <a:spLocks noGrp="1"/>
          </p:cNvSpPr>
          <p:nvPr/>
        </p:nvSpPr>
        <p:spPr>
          <a:xfrm>
            <a:off x="6953250" y="4000500"/>
            <a:ext cx="3219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5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126"/>
                </a:solidFill>
                <a:latin typeface="Aptos"/>
                <a:ea typeface="Aptos"/>
                <a:cs typeface="Aptos"/>
              </a:rPr>
              <a:t>Future work should replicate across more time windows and external datasets.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3B818BC5-DCE9-4B3C-977E-EB850C91808E}"/>
              </a:ext>
            </a:extLst>
          </p:cNvPr>
          <p:cNvSpPr>
            <a:spLocks noGrp="1"/>
          </p:cNvSpPr>
          <p:nvPr/>
        </p:nvSpPr>
        <p:spPr>
          <a:xfrm>
            <a:off x="11468100" y="63246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276496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1948</Words>
  <Application>Microsoft Office PowerPoint</Application>
  <DocSecurity>0</DocSecurity>
  <PresentationFormat>Geniş ekran</PresentationFormat>
  <Paragraphs>269</Paragraphs>
  <Slides>20</Slides>
  <Notes>20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Calibri</vt:lpstr>
      <vt:lpstr>ChatGPT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Sude Tıraş (Student)</cp:lastModifiedBy>
  <cp:revision>2</cp:revision>
  <dcterms:created xsi:type="dcterms:W3CDTF">2026-06-05T15:35:55Z</dcterms:created>
  <dcterms:modified xsi:type="dcterms:W3CDTF">2026-06-06T07:38:45Z</dcterms:modified>
</cp:coreProperties>
</file>