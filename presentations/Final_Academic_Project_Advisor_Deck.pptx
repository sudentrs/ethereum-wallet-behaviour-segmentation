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wide"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Img1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Img1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Img1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Ethereum wallet behaviour is best treated as layered</a:t>
            </a:r>
          </a:p>
        </p:txBody>
      </p:sp>
      <p:sp>
        <p:nvSpPr>
          <p:cNvPr id="17678400" name="Text"/>
          <p:cNvSpPr/>
          <p:nvPr/>
        </p:nvSpPr>
        <p:spPr>
          <a:xfrm>
            <a:off x="609600" y="1219200"/>
            <a:ext cx="109728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Goal: segment Ethereum EOA wallets into defensible behavioural roles.
- Main result: static roles, temporal rhythms, activity states, and network position overlap but do not collapse into one taxonomy.
- Academic contribution: a validation workflow, not just a clustering output.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The project moved from application idea to empirical foundation</a:t>
            </a:r>
          </a:p>
        </p:txBody>
      </p:sp>
      <p:sp>
        <p:nvSpPr>
          <p:cNvPr id="17678400" name="Text"/>
          <p:cNvSpPr/>
          <p:nvPr/>
        </p:nvSpPr>
        <p:spPr>
          <a:xfrm>
            <a:off x="609600" y="1219200"/>
            <a:ext cx="109728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Initial idea: AI-governed crypto-bank simulator with agents and explainable decisions.
- Pivot: real Ethereum wallet behaviour needed to be understood before simulation assumptions could be trusted.
- Final direction: derive behavioural roles from data, then validate them with independent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Temporal signal analysis adds a second evidence layer</a:t>
            </a:r>
          </a:p>
        </p:txBody>
      </p:sp>
      <p:sp>
        <p:nvSpPr>
          <p:cNvPr id="11887200" name="Text"/>
          <p:cNvSpPr/>
          <p:nvPr/>
        </p:nvSpPr>
        <p:spPr>
          <a:xfrm>
            <a:off x="609600" y="1219200"/>
            <a:ext cx="51816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Built daily 2022 wallet signals for a 10,000-wallet edge-aware sample.
- Frequency-domain features capture rhythms in transaction and flow activity.
- Time-domain features capture active days, inactive gaps, bursts, streaks, and switching.</a:t>
            </a:r>
          </a:p>
        </p:txBody>
      </p:sp>
      <p:pic>
        <p:nvPicPr>
          <p:cNvPr id="17983200" name="frequency_power_by_wavelength_cluster.png"/>
          <p:cNvPicPr/>
          <p:nvPr/>
        </p:nvPicPr>
        <p:blipFill>
          <a:blip r:embed="rIdImg1"/>
          <a:stretch>
            <a:fillRect/>
          </a:stretch>
        </p:blipFill>
        <p:spPr>
          <a:xfrm>
            <a:off x="6096000" y="12192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Signal clusters are structured but do not simply reproduce K5</a:t>
            </a:r>
          </a:p>
        </p:txBody>
      </p:sp>
      <p:sp>
        <p:nvSpPr>
          <p:cNvPr id="11887200" name="Text"/>
          <p:cNvSpPr/>
          <p:nvPr/>
        </p:nvSpPr>
        <p:spPr>
          <a:xfrm>
            <a:off x="609600" y="1219200"/>
            <a:ext cx="51816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K5 has the highest correspondence with signal clusters among K4/K5/K6.
- The agreement remains low to moderate, so the signal layer is not a duplicate of static roles.
- This gives the paper a stronger layered-behaviour argument.</a:t>
            </a:r>
          </a:p>
        </p:txBody>
      </p:sp>
      <p:pic>
        <p:nvPicPr>
          <p:cNvPr id="17983200" name="k_taxonomy_signal_correspondence.png"/>
          <p:cNvPicPr/>
          <p:nvPr/>
        </p:nvPicPr>
        <p:blipFill>
          <a:blip r:embed="rIdImg1"/>
          <a:stretch>
            <a:fillRect/>
          </a:stretch>
        </p:blipFill>
        <p:spPr>
          <a:xfrm>
            <a:off x="6096000" y="12192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Network validation separates stronger and weaker claims</a:t>
            </a:r>
          </a:p>
        </p:txBody>
      </p:sp>
      <p:sp>
        <p:nvSpPr>
          <p:cNvPr id="11887200" name="Text"/>
          <p:cNvSpPr/>
          <p:nvPr/>
        </p:nvSpPr>
        <p:spPr>
          <a:xfrm>
            <a:off x="609600" y="1219200"/>
            <a:ext cx="51816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Static K taxonomies show strong same-label transaction concentration.
- Wavelength clusters also exceed the shuffled-label null.
- Time-domain clusters do not exceed the null in the 10k test, so that claim must be cautious.</a:t>
            </a:r>
          </a:p>
        </p:txBody>
      </p:sp>
      <p:pic>
        <p:nvPicPr>
          <p:cNvPr id="17983200" name="network_null_comparison.png"/>
          <p:cNvPicPr/>
          <p:nvPr/>
        </p:nvPicPr>
        <p:blipFill>
          <a:blip r:embed="rIdImg1"/>
          <a:stretch>
            <a:fillRect/>
          </a:stretch>
        </p:blipFill>
        <p:spPr>
          <a:xfrm>
            <a:off x="6096000" y="12192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Temporal transitions show temporary movement and return</a:t>
            </a:r>
          </a:p>
        </p:txBody>
      </p:sp>
      <p:sp>
        <p:nvSpPr>
          <p:cNvPr id="11887200" name="Text"/>
          <p:cNvSpPr/>
          <p:nvPr/>
        </p:nvSpPr>
        <p:spPr>
          <a:xfrm>
            <a:off x="609600" y="1219200"/>
            <a:ext cx="51816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Monthly K5 transitions show moderate persistence rather than fixed identities.
- Two-step return rates are consistently above null expectations.
- Wallets may temporarily leave a state and later return, but we do not infer intent.</a:t>
            </a:r>
          </a:p>
        </p:txBody>
      </p:sp>
      <p:pic>
        <p:nvPicPr>
          <p:cNvPr id="17983200" name="two_step_return_rates.png"/>
          <p:cNvPicPr/>
          <p:nvPr/>
        </p:nvPicPr>
        <p:blipFill>
          <a:blip r:embed="rIdImg1"/>
          <a:stretch>
            <a:fillRect/>
          </a:stretch>
        </p:blipFill>
        <p:spPr>
          <a:xfrm>
            <a:off x="6096000" y="12192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The paper contribution is a validation framework</a:t>
            </a:r>
          </a:p>
        </p:txBody>
      </p:sp>
      <p:sp>
        <p:nvSpPr>
          <p:cNvPr id="17678400" name="Text"/>
          <p:cNvSpPr/>
          <p:nvPr/>
        </p:nvSpPr>
        <p:spPr>
          <a:xfrm>
            <a:off x="609600" y="1219200"/>
            <a:ext cx="109728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Layer 1: static aggregate roles from EOA wallet features.
- Layer 2: temporal rhythms from frequency-domain signals.
- Layer 3: burst/gap/persistence states from time-domain signals.
- Layer 4: transaction-network evidence through shuffled-label null tests.
- Layer 5: temporal stability through transition and two-step return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4920" name="Text"/>
          <p:cNvSpPr/>
          <p:nvPr/>
        </p:nvSpPr>
        <p:spPr>
          <a:xfrm>
            <a:off x="457200" y="274320"/>
            <a:ext cx="11277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800">
                <a:b/>
              </a:rPr>
              <a:t>Next work should strengthen claims, not multiply outputs</a:t>
            </a:r>
          </a:p>
        </p:txBody>
      </p:sp>
      <p:sp>
        <p:nvSpPr>
          <p:cNvPr id="17678400" name="Text"/>
          <p:cNvSpPr/>
          <p:nvPr/>
        </p:nvSpPr>
        <p:spPr>
          <a:xfrm>
            <a:off x="609600" y="1219200"/>
            <a:ext cx="10972800" cy="4876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50"/>
              <a:t>- Finalize paper figures from the audited figure pack.
- Manually review role labels before writing final public descriptions.
- Use formal event-study methods if causal event language is desired.
- Scale temporal signal assignment beyond the sample if compute budget allows.</a:t>
            </a:r>
          </a:p>
        </p:txBody>
      </p:sp>
    </p:spTree>
  </p:cSld>
  <p:clrMapOvr>
    <a:masterClrMapping/>
  </p:clrMapOvr>
</p:sld>
</file>